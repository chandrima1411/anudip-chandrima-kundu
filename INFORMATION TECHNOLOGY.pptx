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597F-7FD2-CC89-F31B-591A863E1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07" y="1357510"/>
            <a:ext cx="9173496" cy="1646302"/>
          </a:xfrm>
        </p:spPr>
        <p:txBody>
          <a:bodyPr/>
          <a:lstStyle/>
          <a:p>
            <a:r>
              <a:rPr lang="en-US" sz="4800" b="1" u="sng" dirty="0"/>
              <a:t>INFORMATION TECHNOLOGY</a:t>
            </a:r>
            <a:endParaRPr lang="en-IN" sz="48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8D8E7-AA03-9AA3-3CD8-4997808E4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323303"/>
            <a:ext cx="7766936" cy="2177187"/>
          </a:xfrm>
        </p:spPr>
        <p:txBody>
          <a:bodyPr>
            <a:normAutofit/>
          </a:bodyPr>
          <a:lstStyle/>
          <a:p>
            <a:r>
              <a:rPr lang="en-US" sz="3200" b="1" dirty="0"/>
              <a:t>Submitted by – Chandrima Kundu</a:t>
            </a:r>
          </a:p>
          <a:p>
            <a:r>
              <a:rPr lang="en-US" sz="3200" b="1" dirty="0"/>
              <a:t>Student of </a:t>
            </a:r>
            <a:r>
              <a:rPr lang="en-US" sz="3200" b="1" dirty="0" err="1"/>
              <a:t>Anudip</a:t>
            </a:r>
            <a:r>
              <a:rPr lang="en-US" sz="3200" b="1" dirty="0"/>
              <a:t> Foundation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758700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783B-1073-63FF-5203-2986B3AA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5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u="sng" dirty="0"/>
              <a:t>Table of Contents :</a:t>
            </a:r>
            <a:endParaRPr lang="en-IN" sz="4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7164-00C6-173C-71A8-502F09BE7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1317"/>
            <a:ext cx="8596668" cy="4360046"/>
          </a:xfrm>
        </p:spPr>
        <p:txBody>
          <a:bodyPr>
            <a:normAutofit/>
          </a:bodyPr>
          <a:lstStyle/>
          <a:p>
            <a:r>
              <a:rPr lang="en-US" sz="2400" b="1" dirty="0"/>
              <a:t>Introduction to IT and Business Systems</a:t>
            </a:r>
          </a:p>
          <a:p>
            <a:r>
              <a:rPr lang="en-US" sz="2400" b="1" dirty="0"/>
              <a:t>Data Types , Sources and Life cycle</a:t>
            </a:r>
          </a:p>
          <a:p>
            <a:r>
              <a:rPr lang="en-US" sz="2400" b="1" dirty="0"/>
              <a:t>Introduction to Business Analyst Role</a:t>
            </a:r>
          </a:p>
          <a:p>
            <a:r>
              <a:rPr lang="en-US" sz="2400" b="1" dirty="0"/>
              <a:t>Data vs. Information</a:t>
            </a:r>
          </a:p>
          <a:p>
            <a:r>
              <a:rPr lang="en-US" sz="2400" b="1" dirty="0"/>
              <a:t>Overview of Data Driven Decision Making</a:t>
            </a:r>
          </a:p>
          <a:p>
            <a:r>
              <a:rPr lang="en-US" sz="2400" b="1" dirty="0"/>
              <a:t>Case Discussions / Real-Life Examples</a:t>
            </a:r>
          </a:p>
          <a:p>
            <a:r>
              <a:rPr lang="en-US" sz="2400" b="1" dirty="0"/>
              <a:t>Introduction to Data Governance &amp; Data Ethics</a:t>
            </a:r>
          </a:p>
          <a:p>
            <a:r>
              <a:rPr lang="en-US" sz="2400" b="1" dirty="0"/>
              <a:t>Conclusion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7017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9C93-4C41-2A88-5871-4918E49F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8" y="349605"/>
            <a:ext cx="8596668" cy="737419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u="sng" dirty="0"/>
              <a:t>Introduction to IT and Business Systems 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74ED-1857-01BC-05C4-F5D0CCBC7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85347"/>
            <a:ext cx="8596668" cy="5392434"/>
          </a:xfrm>
        </p:spPr>
        <p:txBody>
          <a:bodyPr>
            <a:normAutofit/>
          </a:bodyPr>
          <a:lstStyle/>
          <a:p>
            <a:pPr>
              <a:buFont typeface="+mj-lt"/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Fundamentals of Information Technology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Key Points – How to Understand the Basics of IT</a:t>
            </a:r>
          </a:p>
          <a:p>
            <a:r>
              <a:rPr lang="en-US" dirty="0"/>
              <a:t>IT means using technology to manage information</a:t>
            </a:r>
          </a:p>
          <a:p>
            <a:r>
              <a:rPr lang="en-US" dirty="0"/>
              <a:t>Understand basic computer components (CPU, RAM, Storage)</a:t>
            </a:r>
          </a:p>
          <a:p>
            <a:r>
              <a:rPr lang="en-US" dirty="0"/>
              <a:t>Learn difference between hardware and software</a:t>
            </a:r>
          </a:p>
          <a:p>
            <a:r>
              <a:rPr lang="en-US" dirty="0"/>
              <a:t>Know how data is processed into information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Why is Information Technology Important?</a:t>
            </a:r>
          </a:p>
          <a:p>
            <a:r>
              <a:rPr lang="en-US" dirty="0"/>
              <a:t>Makes work faster and easier</a:t>
            </a:r>
          </a:p>
          <a:p>
            <a:r>
              <a:rPr lang="en-US" dirty="0"/>
              <a:t>Helps in communication (Email, Internet)</a:t>
            </a:r>
          </a:p>
          <a:p>
            <a:r>
              <a:rPr lang="en-US" dirty="0"/>
              <a:t>Stores large amount of data</a:t>
            </a:r>
          </a:p>
          <a:p>
            <a:r>
              <a:rPr lang="en-US" dirty="0"/>
              <a:t>Improves business efficiency</a:t>
            </a:r>
          </a:p>
          <a:p>
            <a:r>
              <a:rPr lang="en-US" dirty="0"/>
              <a:t>Used in education, banking, healthcare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3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9F2F-B60F-557E-FE7E-0D2BF54CC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9" y="322006"/>
            <a:ext cx="8928782" cy="62139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Hardware vs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accent2"/>
                </a:solidFill>
              </a:rPr>
              <a:t>Hardware:</a:t>
            </a:r>
          </a:p>
          <a:p>
            <a:r>
              <a:rPr lang="en-US" dirty="0"/>
              <a:t>Hardware is the physical parts of a computer that we can see and touch.</a:t>
            </a:r>
          </a:p>
          <a:p>
            <a:r>
              <a:rPr lang="en-US" dirty="0"/>
              <a:t>Example: Keyboard, Mouse, Monitor, 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accent2"/>
                </a:solidFill>
              </a:rPr>
              <a:t>Software:</a:t>
            </a:r>
          </a:p>
          <a:p>
            <a:r>
              <a:rPr lang="en-US" dirty="0"/>
              <a:t>Software is the set of programs or instructions that tell the computer what to do.</a:t>
            </a:r>
          </a:p>
          <a:p>
            <a:r>
              <a:rPr lang="en-US" dirty="0"/>
              <a:t>Example: Operating System, MS Word, Excel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Core Functions of Information Technology (IT)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b="1" u="sng" dirty="0">
                <a:solidFill>
                  <a:schemeClr val="accent2"/>
                </a:solidFill>
              </a:rPr>
              <a:t>Data Collection:</a:t>
            </a:r>
            <a:r>
              <a:rPr lang="en-US" u="sng" dirty="0">
                <a:solidFill>
                  <a:schemeClr val="accent2"/>
                </a:solidFill>
              </a:rPr>
              <a:t> </a:t>
            </a:r>
            <a:r>
              <a:rPr lang="en-US" dirty="0"/>
              <a:t>Gathering raw data from different sources.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Data Storage:</a:t>
            </a:r>
            <a:r>
              <a:rPr lang="en-US" u="sng" dirty="0">
                <a:solidFill>
                  <a:schemeClr val="accent2"/>
                </a:solidFill>
              </a:rPr>
              <a:t> </a:t>
            </a:r>
            <a:r>
              <a:rPr lang="en-US" dirty="0"/>
              <a:t>Saving data securely for future use.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Data Processing:</a:t>
            </a:r>
            <a:r>
              <a:rPr lang="en-US" u="sng" dirty="0">
                <a:solidFill>
                  <a:schemeClr val="accent2"/>
                </a:solidFill>
              </a:rPr>
              <a:t> </a:t>
            </a:r>
            <a:r>
              <a:rPr lang="en-US" dirty="0"/>
              <a:t>Converting raw data into meaningful information.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Data Security:</a:t>
            </a:r>
            <a:r>
              <a:rPr lang="en-US" u="sng" dirty="0">
                <a:solidFill>
                  <a:schemeClr val="accent2"/>
                </a:solidFill>
              </a:rPr>
              <a:t> </a:t>
            </a:r>
            <a:r>
              <a:rPr lang="en-US" dirty="0"/>
              <a:t>Protecting data from unauthorized access.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Information Sharing:</a:t>
            </a:r>
            <a:r>
              <a:rPr lang="en-US" dirty="0"/>
              <a:t> Transmitting information through networks.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3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AA0A-2B42-BBD7-B5A5-5DB2377A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50606"/>
            <a:ext cx="8596668" cy="5781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IT Governance :</a:t>
            </a:r>
            <a:endParaRPr lang="en-US" b="1" u="sng" dirty="0"/>
          </a:p>
          <a:p>
            <a:r>
              <a:rPr lang="en-US" dirty="0"/>
              <a:t>Ensures IT supports business goals</a:t>
            </a:r>
          </a:p>
          <a:p>
            <a:r>
              <a:rPr lang="en-US" dirty="0"/>
              <a:t>Manages IT policies and rules</a:t>
            </a:r>
          </a:p>
          <a:p>
            <a:r>
              <a:rPr lang="en-US" dirty="0"/>
              <a:t>Controls risk and security</a:t>
            </a:r>
          </a:p>
          <a:p>
            <a:r>
              <a:rPr lang="en-US" dirty="0"/>
              <a:t>Improves performance of IT systems</a:t>
            </a:r>
          </a:p>
          <a:p>
            <a:r>
              <a:rPr lang="en-US" dirty="0"/>
              <a:t>Ensures proper use of resources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IT Operations</a:t>
            </a:r>
          </a:p>
          <a:p>
            <a:r>
              <a:rPr lang="en-US" dirty="0"/>
              <a:t>Daily management of IT systems</a:t>
            </a:r>
          </a:p>
          <a:p>
            <a:r>
              <a:rPr lang="en-US" dirty="0"/>
              <a:t>Monitoring networks and servers</a:t>
            </a:r>
          </a:p>
          <a:p>
            <a:r>
              <a:rPr lang="en-US" dirty="0"/>
              <a:t>Data backup and recovery</a:t>
            </a:r>
          </a:p>
          <a:p>
            <a:r>
              <a:rPr lang="en-US" dirty="0"/>
              <a:t>Handling technical issues</a:t>
            </a:r>
          </a:p>
          <a:p>
            <a:r>
              <a:rPr lang="en-US" dirty="0"/>
              <a:t>System updates and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91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2AFD-D494-824D-397B-898D7AE72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40774"/>
            <a:ext cx="8596668" cy="5771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B</a:t>
            </a:r>
            <a:r>
              <a:rPr lang="en-US" sz="2800" b="1" dirty="0">
                <a:solidFill>
                  <a:schemeClr val="accent2"/>
                </a:solidFill>
              </a:rPr>
              <a:t>.  </a:t>
            </a:r>
            <a:r>
              <a:rPr lang="en-US" sz="2800" b="1" u="sng" dirty="0">
                <a:solidFill>
                  <a:schemeClr val="accent2"/>
                </a:solidFill>
              </a:rPr>
              <a:t>Role of IT in Business Operations :</a:t>
            </a:r>
          </a:p>
          <a:p>
            <a:r>
              <a:rPr lang="en-US" sz="2000" b="1" dirty="0"/>
              <a:t>Improves Efficiency:</a:t>
            </a:r>
            <a:r>
              <a:rPr lang="en-US" sz="2000" dirty="0"/>
              <a:t> Automates tasks and reduces manual work.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Enhances Communication:</a:t>
            </a:r>
            <a:r>
              <a:rPr lang="en-US" sz="2000" dirty="0"/>
              <a:t> Enables email, video meetings, and instant messaging.</a:t>
            </a:r>
          </a:p>
          <a:p>
            <a:r>
              <a:rPr lang="en-US" sz="2000" b="1" dirty="0"/>
              <a:t>Data Management:</a:t>
            </a:r>
            <a:r>
              <a:rPr lang="en-US" sz="2000" dirty="0"/>
              <a:t> Stores and organizes large amounts of business data.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Better Decision Making:</a:t>
            </a:r>
            <a:r>
              <a:rPr lang="en-US" sz="2000" dirty="0"/>
              <a:t> Provides reports and analysis for smart decisions.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Customer Service:</a:t>
            </a:r>
            <a:r>
              <a:rPr lang="en-US" sz="2000" dirty="0"/>
              <a:t> Supports online services and customer support systems.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Security:</a:t>
            </a:r>
            <a:r>
              <a:rPr lang="en-US" sz="2000" dirty="0"/>
              <a:t> Protects business information from cyber threats.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68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EF93C-8F51-033A-6C55-7D909BA64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68" y="228600"/>
            <a:ext cx="8751801" cy="64008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lphaUcPeriod" startAt="3"/>
            </a:pPr>
            <a:r>
              <a:rPr lang="en-US" sz="2800" b="1" u="sng" dirty="0">
                <a:solidFill>
                  <a:schemeClr val="accent2"/>
                </a:solidFill>
              </a:rPr>
              <a:t>Overview of Business Systems (e.g.  ERP , CRM )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Business Systems :</a:t>
            </a:r>
          </a:p>
          <a:p>
            <a:r>
              <a:rPr lang="en-US" dirty="0"/>
              <a:t>Business systems help manage company operations</a:t>
            </a:r>
          </a:p>
          <a:p>
            <a:r>
              <a:rPr lang="en-US" dirty="0"/>
              <a:t>They improve efficiency and decision-making</a:t>
            </a:r>
          </a:p>
          <a:p>
            <a:r>
              <a:rPr lang="en-US" dirty="0"/>
              <a:t>Integrate different departments</a:t>
            </a:r>
          </a:p>
          <a:p>
            <a:r>
              <a:rPr lang="en-US" dirty="0"/>
              <a:t>Provide real-time data and reports</a:t>
            </a:r>
          </a:p>
          <a:p>
            <a:r>
              <a:rPr lang="en-US" dirty="0"/>
              <a:t>Examples: ERP, CPM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b="1" u="sng" dirty="0">
                <a:solidFill>
                  <a:schemeClr val="accent4">
                    <a:lumMod val="75000"/>
                  </a:schemeClr>
                </a:solidFill>
              </a:rPr>
              <a:t>1. Enterprise Resource Planning (ERP)</a:t>
            </a:r>
            <a:endParaRPr lang="en-US" sz="1900" b="1" u="sng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b="1" u="sng" dirty="0"/>
              <a:t>What is ERP?</a:t>
            </a:r>
          </a:p>
          <a:p>
            <a:r>
              <a:rPr lang="en-US" dirty="0"/>
              <a:t>ERP is a software system that integrates all business processes into one system.</a:t>
            </a:r>
          </a:p>
          <a:p>
            <a:r>
              <a:rPr lang="en-US" dirty="0"/>
              <a:t>It connects departments like finance, HR, sales, inventory, and production.</a:t>
            </a:r>
          </a:p>
          <a:p>
            <a:r>
              <a:rPr lang="en-US" b="1" u="sng" dirty="0"/>
              <a:t>Functions of ERP</a:t>
            </a:r>
          </a:p>
          <a:p>
            <a:r>
              <a:rPr lang="en-US" dirty="0"/>
              <a:t>Financial management</a:t>
            </a:r>
          </a:p>
          <a:p>
            <a:r>
              <a:rPr lang="en-US" dirty="0"/>
              <a:t>Human Resource management</a:t>
            </a:r>
          </a:p>
          <a:p>
            <a:r>
              <a:rPr lang="en-US" dirty="0"/>
              <a:t>Supply chain management</a:t>
            </a:r>
          </a:p>
          <a:p>
            <a:r>
              <a:rPr lang="en-US" dirty="0"/>
              <a:t>Customer order processing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sz="28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87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914C0-3FE5-1A12-1E77-E8F73744C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5807"/>
            <a:ext cx="8596668" cy="6440128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u="sng" dirty="0"/>
              <a:t>Benefits:</a:t>
            </a:r>
          </a:p>
          <a:p>
            <a:r>
              <a:rPr lang="en-US" sz="1700" dirty="0"/>
              <a:t>Increases efficiency</a:t>
            </a:r>
          </a:p>
          <a:p>
            <a:r>
              <a:rPr lang="en-US" sz="1700" dirty="0"/>
              <a:t>Reduces manual errors</a:t>
            </a:r>
          </a:p>
          <a:p>
            <a:r>
              <a:rPr lang="en-US" sz="1700" dirty="0"/>
              <a:t>Better decision-making</a:t>
            </a:r>
          </a:p>
          <a:p>
            <a:r>
              <a:rPr lang="en-US" sz="1700" dirty="0"/>
              <a:t>Saves time and cost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200" b="1" u="sng" dirty="0">
                <a:solidFill>
                  <a:schemeClr val="accent4">
                    <a:lumMod val="75000"/>
                  </a:schemeClr>
                </a:solidFill>
              </a:rPr>
              <a:t>2. Corporate Performance Management (CPM)</a:t>
            </a:r>
            <a:endParaRPr lang="en-US" sz="1900" b="1" u="sng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u="sng" dirty="0"/>
              <a:t>🔹 What is CPM?</a:t>
            </a:r>
          </a:p>
          <a:p>
            <a:r>
              <a:rPr lang="en-US" dirty="0"/>
              <a:t>CPM is a system used to monitor and manage company performance.</a:t>
            </a:r>
          </a:p>
          <a:p>
            <a:r>
              <a:rPr lang="en-US" dirty="0"/>
              <a:t>It helps in planning, budgeting, forecasting, and performance analysis.</a:t>
            </a:r>
          </a:p>
          <a:p>
            <a:r>
              <a:rPr lang="en-US" b="1" u="sng" dirty="0"/>
              <a:t>Functions of CPM</a:t>
            </a:r>
          </a:p>
          <a:p>
            <a:r>
              <a:rPr lang="en-US" sz="1900" dirty="0"/>
              <a:t>Budget planning</a:t>
            </a:r>
          </a:p>
          <a:p>
            <a:r>
              <a:rPr lang="en-US" sz="1900" dirty="0"/>
              <a:t>Financial forecasting</a:t>
            </a:r>
          </a:p>
          <a:p>
            <a:r>
              <a:rPr lang="en-US" sz="1900" dirty="0"/>
              <a:t>Performance analysis</a:t>
            </a:r>
          </a:p>
          <a:p>
            <a:r>
              <a:rPr lang="en-US" sz="1900" dirty="0"/>
              <a:t>Risk management</a:t>
            </a:r>
          </a:p>
          <a:p>
            <a:r>
              <a:rPr lang="en-US" b="1" u="sng" dirty="0"/>
              <a:t>Benefits:</a:t>
            </a:r>
          </a:p>
          <a:p>
            <a:r>
              <a:rPr lang="en-US" sz="1900" dirty="0"/>
              <a:t>Improves strategic planning</a:t>
            </a:r>
          </a:p>
          <a:p>
            <a:r>
              <a:rPr lang="en-US" sz="1900" dirty="0"/>
              <a:t>Tracks company goals</a:t>
            </a:r>
          </a:p>
          <a:p>
            <a:r>
              <a:rPr lang="en-US" sz="1900" dirty="0"/>
              <a:t>Supports better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404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A47E5-4016-A8A5-7BD9-6D3B1BD1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70" y="314632"/>
            <a:ext cx="8596668" cy="643029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lphaUcPeriod" startAt="4"/>
            </a:pPr>
            <a:r>
              <a:rPr lang="en-US" sz="2400" b="1" u="sng" dirty="0">
                <a:solidFill>
                  <a:schemeClr val="accent2"/>
                </a:solidFill>
              </a:rPr>
              <a:t>Interplay Between IT and Business Strategy :</a:t>
            </a:r>
          </a:p>
          <a:p>
            <a:pPr marL="0" indent="0">
              <a:buNone/>
            </a:pPr>
            <a:r>
              <a:rPr lang="en-US" sz="2000" b="1" u="sng" dirty="0"/>
              <a:t>1. What is Business Strategy?</a:t>
            </a:r>
          </a:p>
          <a:p>
            <a:r>
              <a:rPr lang="en-US" dirty="0"/>
              <a:t>Long-term plan to achieve company goals</a:t>
            </a:r>
          </a:p>
          <a:p>
            <a:r>
              <a:rPr lang="en-US" dirty="0"/>
              <a:t>Focuses on growth, competition, and profit</a:t>
            </a:r>
          </a:p>
          <a:p>
            <a:r>
              <a:rPr lang="en-US" dirty="0"/>
              <a:t>Decides how a company will compete in the market.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2200" b="1" u="sng" dirty="0"/>
              <a:t> </a:t>
            </a:r>
            <a:r>
              <a:rPr lang="en-US" sz="2000" b="1" u="sng" dirty="0"/>
              <a:t>2. What is IT Strategy?</a:t>
            </a:r>
          </a:p>
          <a:p>
            <a:r>
              <a:rPr lang="en-US" dirty="0"/>
              <a:t>Plan for using IT resources effectively</a:t>
            </a:r>
          </a:p>
          <a:p>
            <a:r>
              <a:rPr lang="en-US" dirty="0"/>
              <a:t>Aligns technology with business goals</a:t>
            </a:r>
          </a:p>
          <a:p>
            <a:r>
              <a:rPr lang="en-US" dirty="0"/>
              <a:t>Focuses on systems, infrastructure, and digital tools.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2000" b="1" u="sng" dirty="0"/>
              <a:t>Role of IT in Business Strategy</a:t>
            </a:r>
          </a:p>
          <a:p>
            <a:r>
              <a:rPr lang="en-US" dirty="0"/>
              <a:t>Improves efficiency and productivity</a:t>
            </a:r>
          </a:p>
          <a:p>
            <a:r>
              <a:rPr lang="en-US" dirty="0"/>
              <a:t>Enables innovation and digital services</a:t>
            </a:r>
          </a:p>
          <a:p>
            <a:r>
              <a:rPr lang="en-US" dirty="0"/>
              <a:t>Provides real-time data for decision-making</a:t>
            </a:r>
          </a:p>
          <a:p>
            <a:r>
              <a:rPr lang="en-US" dirty="0"/>
              <a:t>Helps gain competitive advantage</a:t>
            </a:r>
          </a:p>
          <a:p>
            <a:endParaRPr lang="en-US" sz="2400" dirty="0"/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33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789E-04D3-8CF4-2073-9144A1EC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47" y="580101"/>
            <a:ext cx="8596668" cy="61943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u="sng" dirty="0"/>
              <a:t>Data Types, Sources and Life Cycle :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AA3C5-C602-2D9E-9CF3-0EEC006E9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86" y="1430595"/>
            <a:ext cx="8596668" cy="5427405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Understanding Different Data Types (Structured,      Unstructured, Semi-Structured )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r>
              <a:rPr lang="en-US" sz="2000" b="1" u="sng" dirty="0"/>
              <a:t>Introduction to Data Types :</a:t>
            </a:r>
          </a:p>
          <a:p>
            <a:r>
              <a:rPr lang="en-US" dirty="0"/>
              <a:t>Data is raw facts and information</a:t>
            </a:r>
          </a:p>
          <a:p>
            <a:r>
              <a:rPr lang="en-US" dirty="0"/>
              <a:t>Data is classified into different types</a:t>
            </a:r>
          </a:p>
          <a:p>
            <a:r>
              <a:rPr lang="en-US" dirty="0"/>
              <a:t>Three main types:</a:t>
            </a:r>
          </a:p>
          <a:p>
            <a:pPr lvl="1"/>
            <a:r>
              <a:rPr lang="en-US" b="1" dirty="0"/>
              <a:t>Structured Data</a:t>
            </a:r>
          </a:p>
          <a:p>
            <a:pPr lvl="1"/>
            <a:r>
              <a:rPr lang="en-US" b="1" dirty="0"/>
              <a:t>Unstructured Data</a:t>
            </a:r>
          </a:p>
          <a:p>
            <a:pPr lvl="1"/>
            <a:r>
              <a:rPr lang="en-US" b="1" dirty="0"/>
              <a:t>Semi-Structured Data</a:t>
            </a:r>
          </a:p>
          <a:p>
            <a:r>
              <a:rPr lang="en-US" dirty="0"/>
              <a:t>🎤 Data can be organized in different formats depending on how it is stored and used.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68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8C11-145B-E9F5-4D58-947BE5C98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8" y="550606"/>
            <a:ext cx="8596668" cy="5987845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Structured &amp; Unstructured Data :</a:t>
            </a:r>
          </a:p>
          <a:p>
            <a:pPr marL="0" indent="0">
              <a:buNone/>
            </a:pPr>
            <a:endParaRPr lang="en-US" sz="2000" b="1" u="sng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Structured Data</a:t>
            </a:r>
            <a:endParaRPr lang="en-US" b="1" u="sng" dirty="0"/>
          </a:p>
          <a:p>
            <a:r>
              <a:rPr lang="en-US" dirty="0"/>
              <a:t>Organized in rows and columns</a:t>
            </a:r>
          </a:p>
          <a:p>
            <a:r>
              <a:rPr lang="en-US" dirty="0"/>
              <a:t>Stored in databases</a:t>
            </a:r>
          </a:p>
          <a:p>
            <a:r>
              <a:rPr lang="en-US" dirty="0"/>
              <a:t>Easy to search and analyze</a:t>
            </a:r>
          </a:p>
          <a:p>
            <a:r>
              <a:rPr lang="en-US" dirty="0"/>
              <a:t>Example: Excel sheets, banking records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Unstructured Data</a:t>
            </a:r>
            <a:endParaRPr lang="en-US" b="1" u="sng" dirty="0"/>
          </a:p>
          <a:p>
            <a:r>
              <a:rPr lang="en-US" dirty="0"/>
              <a:t>No fixed format</a:t>
            </a:r>
          </a:p>
          <a:p>
            <a:r>
              <a:rPr lang="en-US" dirty="0"/>
              <a:t>Hard to organize</a:t>
            </a:r>
          </a:p>
          <a:p>
            <a:r>
              <a:rPr lang="en-US" dirty="0"/>
              <a:t>Example: Images, videos, emails, social media posts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🎤 </a:t>
            </a:r>
            <a:r>
              <a:rPr lang="en-US" i="1" dirty="0"/>
              <a:t>Speaking line:</a:t>
            </a:r>
            <a:r>
              <a:rPr lang="en-US" dirty="0"/>
              <a:t> Structured data is organized, while unstructured data has no fixed structure.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76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3743-4194-F1D0-EC8F-40B9D0F3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66" y="644293"/>
            <a:ext cx="8596668" cy="5569414"/>
          </a:xfrm>
        </p:spPr>
        <p:txBody>
          <a:bodyPr/>
          <a:lstStyle/>
          <a:p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Semi-Structured Data :</a:t>
            </a:r>
          </a:p>
          <a:p>
            <a:pPr marL="0" indent="0">
              <a:buNone/>
            </a:pPr>
            <a:endParaRPr lang="en-US" sz="2000" b="1" u="sng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Semi-Structured Data</a:t>
            </a:r>
          </a:p>
          <a:p>
            <a:r>
              <a:rPr lang="en-US" dirty="0"/>
              <a:t>Not fully organized but has some structure</a:t>
            </a:r>
          </a:p>
          <a:p>
            <a:r>
              <a:rPr lang="en-US" dirty="0"/>
              <a:t>Uses tags or markers</a:t>
            </a:r>
          </a:p>
          <a:p>
            <a:r>
              <a:rPr lang="en-US" dirty="0"/>
              <a:t>Example: XML, JSON files</a:t>
            </a:r>
          </a:p>
          <a:p>
            <a:pPr marL="0" indent="0">
              <a:buNone/>
            </a:pPr>
            <a:r>
              <a:rPr lang="en-US" sz="2000" b="1" dirty="0"/>
              <a:t>🔹</a:t>
            </a:r>
            <a:r>
              <a:rPr lang="en-US" sz="2000" b="1" u="sng" dirty="0"/>
              <a:t> Importance :</a:t>
            </a:r>
          </a:p>
          <a:p>
            <a:r>
              <a:rPr lang="en-US" dirty="0"/>
              <a:t>Helps in better data management</a:t>
            </a:r>
          </a:p>
          <a:p>
            <a:r>
              <a:rPr lang="en-US" dirty="0"/>
              <a:t>Supports analytics and decision-making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Understanding different data types helps organizations store and use data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0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A0FEC-D5E5-A72B-00B9-9F85AC269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499" y="503903"/>
            <a:ext cx="9272913" cy="5850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B. </a:t>
            </a:r>
            <a:r>
              <a:rPr lang="en-US" sz="2800" b="1" u="sng" dirty="0">
                <a:solidFill>
                  <a:schemeClr val="accent2"/>
                </a:solidFill>
              </a:rPr>
              <a:t>Common Data Sources ( Internal, External, Databases, APIs )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Introduction to Data Sources</a:t>
            </a:r>
            <a:endParaRPr lang="en-US" sz="2000" b="1" u="sng" dirty="0"/>
          </a:p>
          <a:p>
            <a:r>
              <a:rPr lang="en-US" sz="2000" dirty="0"/>
              <a:t>Data sources are places from where data is collected</a:t>
            </a:r>
          </a:p>
          <a:p>
            <a:r>
              <a:rPr lang="en-US" sz="2000" dirty="0"/>
              <a:t>Organizations use different sources for decision-making</a:t>
            </a:r>
          </a:p>
          <a:p>
            <a:r>
              <a:rPr lang="en-US" sz="2000" dirty="0"/>
              <a:t>Main types:</a:t>
            </a:r>
          </a:p>
          <a:p>
            <a:pPr lvl="1"/>
            <a:r>
              <a:rPr lang="en-US" sz="2000" b="1" dirty="0"/>
              <a:t>Internal Sources</a:t>
            </a:r>
          </a:p>
          <a:p>
            <a:pPr lvl="1"/>
            <a:r>
              <a:rPr lang="en-US" sz="2000" b="1" dirty="0"/>
              <a:t>External Sources</a:t>
            </a:r>
          </a:p>
          <a:p>
            <a:pPr lvl="1"/>
            <a:r>
              <a:rPr lang="en-US" sz="2000" b="1" dirty="0"/>
              <a:t>Databases</a:t>
            </a:r>
          </a:p>
          <a:p>
            <a:pPr lvl="1"/>
            <a:r>
              <a:rPr lang="en-US" sz="2000" b="1" dirty="0"/>
              <a:t>APIs</a:t>
            </a:r>
          </a:p>
          <a:p>
            <a:pPr marL="0" indent="0">
              <a:buNone/>
            </a:pPr>
            <a:r>
              <a:rPr lang="en-US" sz="2000" dirty="0"/>
              <a:t>🎤  Businesses collect data from various sources to analyze performance and make better decisions.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047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6438-2166-E78E-C101-1691749DB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12955"/>
            <a:ext cx="8596668" cy="62729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2"/>
                </a:solidFill>
              </a:rPr>
              <a:t>Internal &amp; External Data Sources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Internal Data Sources :</a:t>
            </a:r>
            <a:endParaRPr lang="en-US" b="1" u="sng" dirty="0"/>
          </a:p>
          <a:p>
            <a:r>
              <a:rPr lang="en-US" dirty="0"/>
              <a:t>Data generated within the organization</a:t>
            </a:r>
          </a:p>
          <a:p>
            <a:r>
              <a:rPr lang="en-US" dirty="0"/>
              <a:t>Sales records</a:t>
            </a:r>
          </a:p>
          <a:p>
            <a:r>
              <a:rPr lang="en-US" dirty="0"/>
              <a:t>Employee information</a:t>
            </a:r>
          </a:p>
          <a:p>
            <a:r>
              <a:rPr lang="en-US" dirty="0"/>
              <a:t>Financial reports</a:t>
            </a:r>
          </a:p>
          <a:p>
            <a:r>
              <a:rPr lang="en-US" dirty="0"/>
              <a:t>Inventory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External Data Sources :</a:t>
            </a:r>
            <a:endParaRPr lang="en-US" b="1" u="sng" dirty="0"/>
          </a:p>
          <a:p>
            <a:r>
              <a:rPr lang="en-US" dirty="0"/>
              <a:t>Data collected from outside the organization</a:t>
            </a:r>
          </a:p>
          <a:p>
            <a:r>
              <a:rPr lang="en-US" dirty="0"/>
              <a:t>Market research reports</a:t>
            </a:r>
          </a:p>
          <a:p>
            <a:r>
              <a:rPr lang="en-US" dirty="0"/>
              <a:t>Government publications</a:t>
            </a:r>
          </a:p>
          <a:p>
            <a:r>
              <a:rPr lang="en-US" dirty="0"/>
              <a:t>Social media data</a:t>
            </a:r>
          </a:p>
          <a:p>
            <a:r>
              <a:rPr lang="en-US" dirty="0"/>
              <a:t>Competitor information</a:t>
            </a:r>
          </a:p>
          <a:p>
            <a:pPr marL="0" indent="0">
              <a:buNone/>
            </a:pPr>
            <a:r>
              <a:rPr lang="en-US" dirty="0"/>
              <a:t>🎤  Internal data comes from inside the company, while external data comes from outside 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17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8BAC-E01F-8CEB-BE82-4439F2A66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01445"/>
            <a:ext cx="8596668" cy="58206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u="sng" dirty="0">
                <a:solidFill>
                  <a:schemeClr val="accent2"/>
                </a:solidFill>
              </a:rPr>
              <a:t>Databases &amp; APIs</a:t>
            </a:r>
            <a:endParaRPr lang="en-IN" b="1" u="sng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IN" b="1" dirty="0"/>
              <a:t>🔹 </a:t>
            </a:r>
            <a:r>
              <a:rPr lang="en-IN" sz="2000" b="1" u="sng" dirty="0"/>
              <a:t>Databases :</a:t>
            </a:r>
            <a:endParaRPr lang="en-IN" b="1" u="sng" dirty="0"/>
          </a:p>
          <a:p>
            <a:r>
              <a:rPr lang="en-IN" dirty="0"/>
              <a:t>Organized collection of data</a:t>
            </a:r>
          </a:p>
          <a:p>
            <a:r>
              <a:rPr lang="en-IN" dirty="0"/>
              <a:t>Stores structured information</a:t>
            </a:r>
          </a:p>
          <a:p>
            <a:r>
              <a:rPr lang="en-IN" dirty="0"/>
              <a:t>Example: Customer database, banking database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🔹 </a:t>
            </a:r>
            <a:r>
              <a:rPr lang="en-IN" sz="2000" b="1" u="sng" dirty="0"/>
              <a:t>APIs (Application Programming Interfaces)</a:t>
            </a:r>
            <a:endParaRPr lang="en-IN" b="1" u="sng" dirty="0"/>
          </a:p>
          <a:p>
            <a:r>
              <a:rPr lang="en-IN" dirty="0"/>
              <a:t>Allow different systems to share data</a:t>
            </a:r>
          </a:p>
          <a:p>
            <a:r>
              <a:rPr lang="en-IN" dirty="0"/>
              <a:t>Used to fetch real-time information</a:t>
            </a:r>
          </a:p>
          <a:p>
            <a:r>
              <a:rPr lang="en-IN" dirty="0"/>
              <a:t>Example: Payment gateways, weather data services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🎤  Databases store data, and APIs help systems communicate and exchange data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54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A045-BD10-F00D-6889-F02B35CD6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3459"/>
            <a:ext cx="8596668" cy="63123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C.   </a:t>
            </a:r>
            <a:r>
              <a:rPr lang="en-US" sz="2400" b="1" u="sng" dirty="0">
                <a:solidFill>
                  <a:schemeClr val="accent2"/>
                </a:solidFill>
              </a:rPr>
              <a:t>Data Collection Methods :</a:t>
            </a:r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Data Collection :</a:t>
            </a:r>
          </a:p>
          <a:p>
            <a:r>
              <a:rPr lang="en-US" dirty="0"/>
              <a:t>Data collection is the process of gathering information from various sources</a:t>
            </a:r>
          </a:p>
          <a:p>
            <a:r>
              <a:rPr lang="en-US" dirty="0"/>
              <a:t>It is the first step in research and data analysis</a:t>
            </a:r>
          </a:p>
          <a:p>
            <a:r>
              <a:rPr lang="en-US" dirty="0"/>
              <a:t>Helps organizations understand problems and make decisions</a:t>
            </a:r>
          </a:p>
          <a:p>
            <a:r>
              <a:rPr lang="en-US" dirty="0"/>
              <a:t>Ensures accuracy and reliability of information</a:t>
            </a:r>
          </a:p>
          <a:p>
            <a:r>
              <a:rPr lang="en-US" dirty="0"/>
              <a:t>Used in business, education, healthcare, and government sectors</a:t>
            </a:r>
          </a:p>
          <a:p>
            <a:r>
              <a:rPr lang="en-US" b="1" dirty="0"/>
              <a:t>Can be collected in two main ways: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sz="1800" b="1" dirty="0"/>
              <a:t>Primary Data (first-hand data)</a:t>
            </a:r>
          </a:p>
          <a:p>
            <a:pPr lvl="1"/>
            <a:r>
              <a:rPr lang="en-US" sz="1800" b="1" dirty="0"/>
              <a:t>Secondary Data (already existing data)</a:t>
            </a:r>
          </a:p>
          <a:p>
            <a:r>
              <a:rPr lang="en-US" dirty="0"/>
              <a:t>Proper data collection improves planning and strategy</a:t>
            </a:r>
          </a:p>
          <a:p>
            <a:endParaRPr lang="en-US" dirty="0"/>
          </a:p>
          <a:p>
            <a:r>
              <a:rPr lang="en-US" dirty="0"/>
              <a:t>🎤  Data collection is important because without accurate data, organizations cannot make effective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53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8ADB-D9F8-BC12-5F73-B3598CDAC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91613"/>
            <a:ext cx="8596668" cy="582069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Primary Data Collection Methods</a:t>
            </a:r>
          </a:p>
          <a:p>
            <a:r>
              <a:rPr lang="en-US" dirty="0"/>
              <a:t>Surveys and Questionnaires</a:t>
            </a:r>
          </a:p>
          <a:p>
            <a:r>
              <a:rPr lang="en-US" dirty="0"/>
              <a:t>Interviews (Structured &amp; Unstructured , Focused , Clinical)</a:t>
            </a:r>
          </a:p>
          <a:p>
            <a:r>
              <a:rPr lang="en-US" dirty="0"/>
              <a:t>Observations</a:t>
            </a:r>
          </a:p>
          <a:p>
            <a:r>
              <a:rPr lang="en-US" dirty="0"/>
              <a:t>Experiments</a:t>
            </a:r>
          </a:p>
          <a:p>
            <a:r>
              <a:rPr lang="en-US" dirty="0"/>
              <a:t>Focus Groups</a:t>
            </a:r>
          </a:p>
          <a:p>
            <a:r>
              <a:rPr lang="en-US" dirty="0"/>
              <a:t>🔹 Collected directly from the source</a:t>
            </a:r>
            <a:br>
              <a:rPr lang="en-US" dirty="0"/>
            </a:br>
            <a:r>
              <a:rPr lang="en-US" dirty="0"/>
              <a:t>🔹 More accurate but time-consuming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Secondary Data Collection Methods</a:t>
            </a:r>
          </a:p>
          <a:p>
            <a:r>
              <a:rPr lang="en-US" dirty="0"/>
              <a:t>Books and journals</a:t>
            </a:r>
          </a:p>
          <a:p>
            <a:r>
              <a:rPr lang="en-US" dirty="0"/>
              <a:t>Government reports</a:t>
            </a:r>
          </a:p>
          <a:p>
            <a:r>
              <a:rPr lang="en-US" dirty="0"/>
              <a:t>Company records</a:t>
            </a:r>
          </a:p>
          <a:p>
            <a:r>
              <a:rPr lang="en-US" dirty="0"/>
              <a:t>Websites and online databases</a:t>
            </a:r>
          </a:p>
          <a:p>
            <a:r>
              <a:rPr lang="en-US" dirty="0"/>
              <a:t>🔹 Already collected by others</a:t>
            </a:r>
            <a:br>
              <a:rPr lang="en-US" dirty="0"/>
            </a:br>
            <a:r>
              <a:rPr lang="en-US" dirty="0"/>
              <a:t>🔹 Saves time and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927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23E9D-D8B3-3BDD-D7AA-C3E91FAC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65" y="412955"/>
            <a:ext cx="8596668" cy="65925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2"/>
                </a:solidFill>
              </a:rPr>
              <a:t>D. Data Lifecycle Management ( Creation , Storage , Usage, Archiving , Deletion )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Data Lifecycle Management</a:t>
            </a:r>
          </a:p>
          <a:p>
            <a:r>
              <a:rPr lang="en-US" dirty="0"/>
              <a:t>Data Lifecycle Management (DLM) is the process of managing data from beginning to end</a:t>
            </a:r>
          </a:p>
          <a:p>
            <a:r>
              <a:rPr lang="en-US" dirty="0"/>
              <a:t>It ensures data is properly handled at every stage</a:t>
            </a:r>
          </a:p>
          <a:p>
            <a:r>
              <a:rPr lang="en-US" dirty="0"/>
              <a:t>Helps maintain data quality, security, and compliance</a:t>
            </a:r>
          </a:p>
          <a:p>
            <a:r>
              <a:rPr lang="en-US" dirty="0"/>
              <a:t>Reduces storage cost and risk</a:t>
            </a:r>
          </a:p>
          <a:p>
            <a:r>
              <a:rPr lang="en-US" dirty="0"/>
              <a:t>Important for businesses, banks, healthcare, and IT sectors</a:t>
            </a:r>
          </a:p>
          <a:p>
            <a:r>
              <a:rPr lang="en-US" sz="2000" b="1" dirty="0"/>
              <a:t>Main stages of Data Lifecycle:</a:t>
            </a:r>
          </a:p>
          <a:p>
            <a:pPr lvl="1"/>
            <a:r>
              <a:rPr lang="en-US" sz="1800" b="1" dirty="0"/>
              <a:t>Creation</a:t>
            </a:r>
          </a:p>
          <a:p>
            <a:pPr lvl="1"/>
            <a:r>
              <a:rPr lang="en-US" sz="1800" b="1" dirty="0"/>
              <a:t>Storage</a:t>
            </a:r>
          </a:p>
          <a:p>
            <a:pPr lvl="1"/>
            <a:r>
              <a:rPr lang="en-US" sz="1800" b="1" dirty="0"/>
              <a:t>Usage</a:t>
            </a:r>
          </a:p>
          <a:p>
            <a:pPr lvl="1"/>
            <a:r>
              <a:rPr lang="en-US" sz="1800" b="1" dirty="0"/>
              <a:t>Archiving</a:t>
            </a:r>
          </a:p>
          <a:p>
            <a:pPr lvl="1"/>
            <a:r>
              <a:rPr lang="en-US" sz="1800" b="1" dirty="0"/>
              <a:t>Deletion</a:t>
            </a:r>
          </a:p>
          <a:p>
            <a:r>
              <a:rPr lang="en-US" dirty="0"/>
              <a:t>🎤 Data lifecycle management ensures that data is managed efficiently throughout its entire life.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156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D2D0-4C25-6552-988B-3DC99724F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3961"/>
            <a:ext cx="8596668" cy="63811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Creation, Storage &amp; Usage :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Creation</a:t>
            </a:r>
            <a:endParaRPr lang="en-US" b="1" u="sng" dirty="0"/>
          </a:p>
          <a:p>
            <a:r>
              <a:rPr lang="en-US" dirty="0"/>
              <a:t>Data is generated or collected</a:t>
            </a:r>
          </a:p>
          <a:p>
            <a:r>
              <a:rPr lang="en-US" dirty="0"/>
              <a:t>Example: Customer forms, online transactions</a:t>
            </a:r>
          </a:p>
          <a:p>
            <a:r>
              <a:rPr lang="en-US" dirty="0"/>
              <a:t>Must ensure accuracy at this stage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Storage</a:t>
            </a:r>
            <a:endParaRPr lang="en-US" b="1" u="sng" dirty="0"/>
          </a:p>
          <a:p>
            <a:r>
              <a:rPr lang="en-US" dirty="0"/>
              <a:t>Data is stored securely in databases or cloud</a:t>
            </a:r>
          </a:p>
          <a:p>
            <a:r>
              <a:rPr lang="en-US" dirty="0"/>
              <a:t>Backup systems are used</a:t>
            </a:r>
          </a:p>
          <a:p>
            <a:r>
              <a:rPr lang="en-US" dirty="0"/>
              <a:t>Protects from data loss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Usage</a:t>
            </a:r>
            <a:endParaRPr lang="en-US" b="1" u="sng" dirty="0"/>
          </a:p>
          <a:p>
            <a:r>
              <a:rPr lang="en-US" dirty="0"/>
              <a:t>Data is accessed and used for operations</a:t>
            </a:r>
          </a:p>
          <a:p>
            <a:r>
              <a:rPr lang="en-US" dirty="0"/>
              <a:t>Used for reporting, analysis, decision-making</a:t>
            </a:r>
          </a:p>
          <a:p>
            <a:r>
              <a:rPr lang="en-US" dirty="0"/>
              <a:t>Access should be controlled for security</a:t>
            </a:r>
          </a:p>
          <a:p>
            <a:endParaRPr lang="en-US" dirty="0"/>
          </a:p>
          <a:p>
            <a:r>
              <a:rPr lang="en-US" dirty="0"/>
              <a:t>🎤  After data is created, it is stored securely and used for business purposes.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36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9DF8-FD8A-AFFE-1CE8-FA16E2AC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0942"/>
            <a:ext cx="8596668" cy="58698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Archiving &amp; Deletion :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Archiving</a:t>
            </a:r>
            <a:endParaRPr lang="en-US" b="1" u="sng" dirty="0"/>
          </a:p>
          <a:p>
            <a:r>
              <a:rPr lang="en-US" dirty="0"/>
              <a:t>Old or inactive data is stored separately</a:t>
            </a:r>
          </a:p>
          <a:p>
            <a:r>
              <a:rPr lang="en-US" dirty="0"/>
              <a:t>Kept for legal or future reference</a:t>
            </a:r>
          </a:p>
          <a:p>
            <a:r>
              <a:rPr lang="en-US" dirty="0"/>
              <a:t>Reduces system load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Deletion</a:t>
            </a:r>
            <a:endParaRPr lang="en-US" b="1" u="sng" dirty="0"/>
          </a:p>
          <a:p>
            <a:r>
              <a:rPr lang="en-US" dirty="0"/>
              <a:t>Data that is no longer needed is permanently removed</a:t>
            </a:r>
          </a:p>
          <a:p>
            <a:r>
              <a:rPr lang="en-US" dirty="0"/>
              <a:t>Protects privacy</a:t>
            </a:r>
          </a:p>
          <a:p>
            <a:r>
              <a:rPr lang="en-US" dirty="0"/>
              <a:t>Reduces storage cost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Proper archiving and deletion help maintain security and improve system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888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669D-B581-9327-D2CF-F8A2704C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71948"/>
            <a:ext cx="8596668" cy="5968181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5"/>
            </a:pPr>
            <a:r>
              <a:rPr lang="en-US" sz="2400" b="1" u="sng" dirty="0">
                <a:solidFill>
                  <a:schemeClr val="accent2"/>
                </a:solidFill>
              </a:rPr>
              <a:t>Data Quality and Integrity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Data Quality &amp; Integrity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sz="2000" dirty="0"/>
              <a:t>Data Quality refers to the accuracy and reliability of data</a:t>
            </a:r>
          </a:p>
          <a:p>
            <a:r>
              <a:rPr lang="en-US" sz="2000" dirty="0"/>
              <a:t>Data Integrity ensures data remains correct and consistent over time</a:t>
            </a:r>
          </a:p>
          <a:p>
            <a:r>
              <a:rPr lang="en-US" sz="2000" dirty="0"/>
              <a:t>High-quality data improves decision-making</a:t>
            </a:r>
          </a:p>
          <a:p>
            <a:r>
              <a:rPr lang="en-US" sz="2000" dirty="0"/>
              <a:t>Important in business, banking, healthcare, and IT systems</a:t>
            </a:r>
          </a:p>
          <a:p>
            <a:r>
              <a:rPr lang="en-US" sz="2000" dirty="0"/>
              <a:t>Poor data quality can lead to wrong decisions and losses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🎤  Good data quality and integrity are essential for making accurate and reliable business decisions.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126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C0EB-5E96-11C5-9A51-E7401037E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40774"/>
            <a:ext cx="8596668" cy="58010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Data Quality :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Key Characteristics:</a:t>
            </a:r>
          </a:p>
          <a:p>
            <a:r>
              <a:rPr lang="en-US" dirty="0"/>
              <a:t>Accuracy – Data is correct and error-free</a:t>
            </a:r>
          </a:p>
          <a:p>
            <a:r>
              <a:rPr lang="en-US" dirty="0"/>
              <a:t>Completeness – No missing information</a:t>
            </a:r>
          </a:p>
          <a:p>
            <a:r>
              <a:rPr lang="en-US" dirty="0"/>
              <a:t>Consistency – Same data across all systems</a:t>
            </a:r>
          </a:p>
          <a:p>
            <a:r>
              <a:rPr lang="en-US" dirty="0"/>
              <a:t>Timeliness – Data is up-to-date</a:t>
            </a:r>
          </a:p>
          <a:p>
            <a:r>
              <a:rPr lang="en-US" dirty="0"/>
              <a:t>Relevance – Data is useful for the purpose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Importance:</a:t>
            </a:r>
            <a:endParaRPr lang="en-US" b="1" u="sng" dirty="0"/>
          </a:p>
          <a:p>
            <a:r>
              <a:rPr lang="en-US" dirty="0"/>
              <a:t>Better analysis</a:t>
            </a:r>
          </a:p>
          <a:p>
            <a:r>
              <a:rPr lang="en-US" dirty="0"/>
              <a:t>Improved customer service</a:t>
            </a:r>
          </a:p>
          <a:p>
            <a:r>
              <a:rPr lang="en-US" dirty="0"/>
              <a:t>Efficient operations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Data quality ensures that the information we use is accurate, complete, and useful.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296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EBD34-46B0-F740-22F2-F64A5D66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8" y="383459"/>
            <a:ext cx="8596668" cy="614516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Data Integrity :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Meaning:</a:t>
            </a:r>
            <a:endParaRPr lang="en-US" b="1" u="sng" dirty="0"/>
          </a:p>
          <a:p>
            <a:r>
              <a:rPr lang="en-US" dirty="0"/>
              <a:t>Maintaining correctness and consistency of data</a:t>
            </a:r>
          </a:p>
          <a:p>
            <a:r>
              <a:rPr lang="en-US" dirty="0"/>
              <a:t>Protecting data from unauthorized changes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Types:</a:t>
            </a:r>
            <a:endParaRPr lang="en-US" b="1" u="sng" dirty="0"/>
          </a:p>
          <a:p>
            <a:r>
              <a:rPr lang="en-US" dirty="0"/>
              <a:t>Physical Integrity – Protecting data from hardware failure</a:t>
            </a:r>
          </a:p>
          <a:p>
            <a:r>
              <a:rPr lang="en-US" dirty="0"/>
              <a:t>Logical Integrity – Ensuring data accuracy within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Methods to Maintain Integrity:</a:t>
            </a:r>
            <a:endParaRPr lang="en-US" b="1" u="sng" dirty="0"/>
          </a:p>
          <a:p>
            <a:r>
              <a:rPr lang="en-US" dirty="0"/>
              <a:t>Data validation</a:t>
            </a:r>
          </a:p>
          <a:p>
            <a:r>
              <a:rPr lang="en-US" dirty="0"/>
              <a:t>Access control</a:t>
            </a:r>
          </a:p>
          <a:p>
            <a:r>
              <a:rPr lang="en-US" dirty="0"/>
              <a:t>Backup and recovery systems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Data integrity ensures that data remains safe, consistent, and trustworthy throughout its lifecycle.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908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38A9-F26E-BC77-EE83-56099B00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2" y="535857"/>
            <a:ext cx="9331905" cy="68334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u="sng" dirty="0"/>
              <a:t>Introduction to Business Analyst Role 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DFFE-7F26-47D2-8615-35273D43A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37" y="1509251"/>
            <a:ext cx="8584654" cy="5348749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Definition and Responsibilities of a Business Analyst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Definition of a Business Analyst</a:t>
            </a:r>
          </a:p>
          <a:p>
            <a:r>
              <a:rPr lang="en-US" dirty="0"/>
              <a:t>A Business Analyst (BA) is a professional who connects business needs with IT solutions</a:t>
            </a:r>
          </a:p>
          <a:p>
            <a:r>
              <a:rPr lang="en-US" dirty="0"/>
              <a:t>Analyzes business problems and finds effective solutions</a:t>
            </a:r>
          </a:p>
          <a:p>
            <a:r>
              <a:rPr lang="en-US" dirty="0"/>
              <a:t>Works with stakeholders, managers, and IT teams</a:t>
            </a:r>
          </a:p>
          <a:p>
            <a:r>
              <a:rPr lang="en-US" dirty="0"/>
              <a:t>Helps improve processes, systems, and strategies</a:t>
            </a:r>
          </a:p>
          <a:p>
            <a:r>
              <a:rPr lang="en-US" dirty="0"/>
              <a:t>Plays an important role in project success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</a:t>
            </a:r>
            <a:r>
              <a:rPr lang="en-US" i="1" dirty="0"/>
              <a:t> </a:t>
            </a:r>
            <a:r>
              <a:rPr lang="en-US" dirty="0"/>
              <a:t>A Business Analyst acts as a bridge between business and technology.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927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9B00-7E44-26FC-DEEB-E042CE45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309716"/>
            <a:ext cx="8596668" cy="654828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Key Responsibilities of a Business Analyst</a:t>
            </a:r>
          </a:p>
          <a:p>
            <a:r>
              <a:rPr lang="en-US" dirty="0"/>
              <a:t>Gathering and analyzing business requirements</a:t>
            </a:r>
          </a:p>
          <a:p>
            <a:r>
              <a:rPr lang="en-US" dirty="0"/>
              <a:t>Communicating with stakeholders</a:t>
            </a:r>
          </a:p>
          <a:p>
            <a:r>
              <a:rPr lang="en-US" dirty="0"/>
              <a:t>Identifying problems and suggesting solutions</a:t>
            </a:r>
          </a:p>
          <a:p>
            <a:r>
              <a:rPr lang="en-US" dirty="0"/>
              <a:t>Preparing documentation and reports</a:t>
            </a:r>
          </a:p>
          <a:p>
            <a:r>
              <a:rPr lang="en-US" dirty="0"/>
              <a:t>Supporting project planning and implementation</a:t>
            </a:r>
          </a:p>
          <a:p>
            <a:r>
              <a:rPr lang="en-US" dirty="0"/>
              <a:t>Ensuring solutions meet business goals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The main responsibility of a Business Analyst is to understand business needs and ensure proper solutions are implemented.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Skills Required for a Business Analyst</a:t>
            </a:r>
            <a:endParaRPr lang="en-US" b="1" u="sng" dirty="0"/>
          </a:p>
          <a:p>
            <a:r>
              <a:rPr lang="en-US" dirty="0"/>
              <a:t>Analytical and critical thinking</a:t>
            </a:r>
          </a:p>
          <a:p>
            <a:r>
              <a:rPr lang="en-US" dirty="0"/>
              <a:t>Communication skills</a:t>
            </a:r>
          </a:p>
          <a:p>
            <a:r>
              <a:rPr lang="en-US" dirty="0"/>
              <a:t>Problem-solving ability</a:t>
            </a:r>
          </a:p>
          <a:p>
            <a:r>
              <a:rPr lang="en-US" dirty="0"/>
              <a:t>Technical knowledge</a:t>
            </a:r>
          </a:p>
          <a:p>
            <a:r>
              <a:rPr lang="en-US" dirty="0"/>
              <a:t>Time management and teamwork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A successful Business Analyst must have both technical knowledge and strong communication skills.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993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CC987-D63D-418A-A8FC-A77430EC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40775"/>
            <a:ext cx="8596668" cy="5840360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2"/>
            </a:pPr>
            <a:r>
              <a:rPr lang="en-US" sz="2400" b="1" u="sng" dirty="0">
                <a:solidFill>
                  <a:schemeClr val="accent2"/>
                </a:solidFill>
              </a:rPr>
              <a:t>Key Skills for Business Analysts ( Communication, Analytical Thinking, Problem Solving )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Key Skills :</a:t>
            </a:r>
          </a:p>
          <a:p>
            <a:r>
              <a:rPr lang="en-US" dirty="0"/>
              <a:t>Business Analysts need both technical and soft skills</a:t>
            </a:r>
          </a:p>
          <a:p>
            <a:r>
              <a:rPr lang="en-US" dirty="0"/>
              <a:t>Skills help in understanding business problems</a:t>
            </a:r>
          </a:p>
          <a:p>
            <a:r>
              <a:rPr lang="en-US" dirty="0"/>
              <a:t>Important for successful project execution</a:t>
            </a:r>
          </a:p>
          <a:p>
            <a:r>
              <a:rPr lang="en-US" dirty="0"/>
              <a:t>Three key skills:</a:t>
            </a:r>
          </a:p>
          <a:p>
            <a:pPr lvl="1"/>
            <a:r>
              <a:rPr lang="en-US" sz="1800" b="1" dirty="0"/>
              <a:t>Communication</a:t>
            </a:r>
          </a:p>
          <a:p>
            <a:pPr lvl="1"/>
            <a:r>
              <a:rPr lang="en-US" sz="1800" b="1" dirty="0"/>
              <a:t>Analytical Thinking</a:t>
            </a:r>
          </a:p>
          <a:p>
            <a:pPr lvl="1"/>
            <a:r>
              <a:rPr lang="en-US" sz="1800" b="1" dirty="0"/>
              <a:t>Problem Solving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🎤  A Business Analyst must have strong skills to connect business requirements with effective solutions.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132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D0EC-DCFE-30B7-C355-A241788EE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34297"/>
            <a:ext cx="8596668" cy="6400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Communication &amp; Analytical Thinking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Communication Skills</a:t>
            </a:r>
            <a:endParaRPr lang="en-US" b="1" u="sng" dirty="0"/>
          </a:p>
          <a:p>
            <a:r>
              <a:rPr lang="en-US" dirty="0"/>
              <a:t>Clear verbal and written communication</a:t>
            </a:r>
          </a:p>
          <a:p>
            <a:r>
              <a:rPr lang="en-US" dirty="0"/>
              <a:t>Explaining technical ideas in simple language</a:t>
            </a:r>
          </a:p>
          <a:p>
            <a:r>
              <a:rPr lang="en-US" dirty="0"/>
              <a:t>Active listening to stakeholders</a:t>
            </a:r>
          </a:p>
          <a:p>
            <a:r>
              <a:rPr lang="en-US" dirty="0"/>
              <a:t>Preparing reports and presentations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Analytical Thinking</a:t>
            </a:r>
            <a:endParaRPr lang="en-US" b="1" u="sng" dirty="0"/>
          </a:p>
          <a:p>
            <a:r>
              <a:rPr lang="en-US" dirty="0"/>
              <a:t>Understanding complex data and processes</a:t>
            </a:r>
          </a:p>
          <a:p>
            <a:r>
              <a:rPr lang="en-US" dirty="0"/>
              <a:t>Identifying patterns and trends</a:t>
            </a:r>
          </a:p>
          <a:p>
            <a:r>
              <a:rPr lang="en-US" dirty="0"/>
              <a:t>Breaking problems into smaller parts</a:t>
            </a:r>
          </a:p>
          <a:p>
            <a:r>
              <a:rPr lang="en-US" dirty="0"/>
              <a:t>Making logical conclusions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Communication helps in sharing ideas clearly, while analytical thinking helps in understanding problems deeply.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019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4B55-2193-2300-7650-DE6BBBCA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3794"/>
            <a:ext cx="8596668" cy="62139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Problem-Solving Skill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Problem Solving</a:t>
            </a:r>
          </a:p>
          <a:p>
            <a:r>
              <a:rPr lang="en-US" dirty="0"/>
              <a:t>Identifying root causes of issues</a:t>
            </a:r>
          </a:p>
          <a:p>
            <a:r>
              <a:rPr lang="en-US" dirty="0"/>
              <a:t>Generating practical solutions</a:t>
            </a:r>
          </a:p>
          <a:p>
            <a:r>
              <a:rPr lang="en-US" dirty="0"/>
              <a:t>Evaluating different alternatives</a:t>
            </a:r>
          </a:p>
          <a:p>
            <a:r>
              <a:rPr lang="en-US" dirty="0"/>
              <a:t>Implementing effective strategies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Importance</a:t>
            </a:r>
            <a:endParaRPr lang="en-US" b="1" u="sng" dirty="0"/>
          </a:p>
          <a:p>
            <a:r>
              <a:rPr lang="en-US" dirty="0"/>
              <a:t>Improves business efficiency</a:t>
            </a:r>
          </a:p>
          <a:p>
            <a:r>
              <a:rPr lang="en-US" dirty="0"/>
              <a:t>Reduces risks</a:t>
            </a:r>
          </a:p>
          <a:p>
            <a:r>
              <a:rPr lang="en-US" dirty="0"/>
              <a:t>Supports better decision-making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Problem-solving skill helps Business Analysts provide effective and practical solutions to business challenges.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895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F3ADE-1B06-2918-0B08-E53144ED7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540775"/>
            <a:ext cx="8899285" cy="5840360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3"/>
            </a:pPr>
            <a:r>
              <a:rPr lang="en-US" sz="2800" b="1" u="sng" dirty="0">
                <a:solidFill>
                  <a:schemeClr val="accent2"/>
                </a:solidFill>
              </a:rPr>
              <a:t>Business Analysis Methodologies ( e.g. Agile, Waterfall )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Introduction to Business Analysis Methodologies</a:t>
            </a:r>
            <a:endParaRPr lang="en-US" sz="2000" b="1" u="sng" dirty="0"/>
          </a:p>
          <a:p>
            <a:r>
              <a:rPr lang="en-US" sz="2000" dirty="0"/>
              <a:t>Methodologies are structured approaches used in projects</a:t>
            </a:r>
          </a:p>
          <a:p>
            <a:r>
              <a:rPr lang="en-US" sz="2000" dirty="0"/>
              <a:t>Help in planning, executing, and delivering solutions</a:t>
            </a:r>
          </a:p>
          <a:p>
            <a:r>
              <a:rPr lang="en-US" sz="2000" dirty="0"/>
              <a:t>Guide how Business Analysts gather and manage requirements</a:t>
            </a:r>
          </a:p>
          <a:p>
            <a:r>
              <a:rPr lang="en-US" sz="2000" dirty="0"/>
              <a:t>Two common methodologies:</a:t>
            </a:r>
          </a:p>
          <a:p>
            <a:pPr lvl="1"/>
            <a:r>
              <a:rPr lang="en-US" sz="2000" b="1" dirty="0"/>
              <a:t>Agile</a:t>
            </a:r>
          </a:p>
          <a:p>
            <a:pPr lvl="1"/>
            <a:r>
              <a:rPr lang="en-US" sz="2000" b="1" dirty="0"/>
              <a:t>Waterfall</a:t>
            </a:r>
          </a:p>
          <a:p>
            <a:pPr marL="457200" lvl="1" indent="0">
              <a:buNone/>
            </a:pPr>
            <a:endParaRPr lang="en-US" sz="2000" b="1" dirty="0"/>
          </a:p>
          <a:p>
            <a:r>
              <a:rPr lang="en-US" sz="2000" dirty="0"/>
              <a:t>🎤  Business analysis methodologies provide a framework to manage projects effectively.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89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BAE1-E315-2A6C-8B3E-2C47BEE5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50606"/>
            <a:ext cx="8596668" cy="57125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Agile Methodology :</a:t>
            </a:r>
            <a:endParaRPr lang="en-US" b="1" u="sng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Agile :</a:t>
            </a:r>
            <a:endParaRPr lang="en-US" b="1" u="sng" dirty="0"/>
          </a:p>
          <a:p>
            <a:r>
              <a:rPr lang="en-US" dirty="0"/>
              <a:t>Flexible and iterative approach</a:t>
            </a:r>
          </a:p>
          <a:p>
            <a:r>
              <a:rPr lang="en-US" dirty="0"/>
              <a:t>Work is divided into small cycles (sprints)</a:t>
            </a:r>
          </a:p>
          <a:p>
            <a:r>
              <a:rPr lang="en-US" dirty="0"/>
              <a:t>Continuous feedback and improvement</a:t>
            </a:r>
          </a:p>
          <a:p>
            <a:r>
              <a:rPr lang="en-US" dirty="0"/>
              <a:t>Changes can be made anytime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Advantages:</a:t>
            </a:r>
          </a:p>
          <a:p>
            <a:r>
              <a:rPr lang="en-US" dirty="0"/>
              <a:t>Faster delivery</a:t>
            </a:r>
          </a:p>
          <a:p>
            <a:r>
              <a:rPr lang="en-US" dirty="0"/>
              <a:t>Better customer involvement</a:t>
            </a:r>
          </a:p>
          <a:p>
            <a:r>
              <a:rPr lang="en-US" dirty="0"/>
              <a:t>Adaptable to changing requirements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Agile focuses on flexibility and continuous improvement throughout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812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B634D-955C-8D6F-5320-6B051ED1F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80103"/>
            <a:ext cx="8596668" cy="56830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</a:rPr>
              <a:t>Waterfall Methodology :</a:t>
            </a:r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Waterfall :</a:t>
            </a:r>
            <a:endParaRPr lang="en-US" b="1" u="sng" dirty="0"/>
          </a:p>
          <a:p>
            <a:r>
              <a:rPr lang="en-US" dirty="0"/>
              <a:t>Linear and sequential approach</a:t>
            </a:r>
          </a:p>
          <a:p>
            <a:r>
              <a:rPr lang="en-US" dirty="0"/>
              <a:t>Each phase must be completed before moving to the next</a:t>
            </a:r>
          </a:p>
          <a:p>
            <a:r>
              <a:rPr lang="en-US" dirty="0"/>
              <a:t>Phases: Requirement → Design → Development → Testing → Deployment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Advantages:</a:t>
            </a:r>
            <a:endParaRPr lang="en-US" b="1" u="sng" dirty="0"/>
          </a:p>
          <a:p>
            <a:r>
              <a:rPr lang="en-US" dirty="0"/>
              <a:t>Simple and easy to manage</a:t>
            </a:r>
          </a:p>
          <a:p>
            <a:r>
              <a:rPr lang="en-US" dirty="0"/>
              <a:t>Clear documentation</a:t>
            </a:r>
          </a:p>
          <a:p>
            <a:r>
              <a:rPr lang="en-US" dirty="0"/>
              <a:t>Suitable for fixed requirements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Waterfall is structured and fixed, while Agile is flexible and adaptive.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460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3F2FD-913E-B5BC-86BC-F22C1EB4A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09601"/>
            <a:ext cx="8596668" cy="5683044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4"/>
            </a:pPr>
            <a:r>
              <a:rPr lang="en-US" sz="2800" b="1" u="sng" dirty="0">
                <a:solidFill>
                  <a:schemeClr val="accent2"/>
                </a:solidFill>
              </a:rPr>
              <a:t>Stakeholder Management :</a:t>
            </a:r>
          </a:p>
          <a:p>
            <a:pPr marL="0" indent="0">
              <a:buNone/>
            </a:pPr>
            <a:endParaRPr lang="en-US" sz="28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Introduction to Stakeholder Management</a:t>
            </a:r>
          </a:p>
          <a:p>
            <a:r>
              <a:rPr lang="en-US" sz="2000" dirty="0"/>
              <a:t>Stakeholders are individuals or groups interested in a project</a:t>
            </a:r>
          </a:p>
          <a:p>
            <a:r>
              <a:rPr lang="en-US" sz="2000" dirty="0"/>
              <a:t>Examples: Clients, managers, employees, investors</a:t>
            </a:r>
          </a:p>
          <a:p>
            <a:r>
              <a:rPr lang="en-US" sz="2000" dirty="0"/>
              <a:t>Stakeholder Management is the process of identifying and managing their expectations</a:t>
            </a:r>
          </a:p>
          <a:p>
            <a:r>
              <a:rPr lang="en-US" sz="2000" dirty="0"/>
              <a:t>Important for project success</a:t>
            </a:r>
          </a:p>
          <a:p>
            <a:r>
              <a:rPr lang="en-US" sz="2000" dirty="0"/>
              <a:t>Ensures proper communication and collaboration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🎤  Stakeholder management helps maintain strong relationships and ensures project success.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793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CB44A-D547-7729-A267-B3E8F3593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4" y="398207"/>
            <a:ext cx="8596668" cy="645979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Key Activities in Stakeholder Management :</a:t>
            </a:r>
          </a:p>
          <a:p>
            <a:r>
              <a:rPr lang="en-US" dirty="0"/>
              <a:t>Identifying stakeholders</a:t>
            </a:r>
          </a:p>
          <a:p>
            <a:r>
              <a:rPr lang="en-US" dirty="0"/>
              <a:t>Analyzing their interests and influence</a:t>
            </a:r>
          </a:p>
          <a:p>
            <a:r>
              <a:rPr lang="en-US" dirty="0"/>
              <a:t>Communicating project updates regularly</a:t>
            </a:r>
          </a:p>
          <a:p>
            <a:r>
              <a:rPr lang="en-US" dirty="0"/>
              <a:t>Managing expectations</a:t>
            </a:r>
          </a:p>
          <a:p>
            <a:r>
              <a:rPr lang="en-US" dirty="0"/>
              <a:t>Resolving conflicts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Proper communication and understanding of stakeholder needs are essential for smooth project execution.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 Importance of Stakeholder Management :</a:t>
            </a:r>
          </a:p>
          <a:p>
            <a:r>
              <a:rPr lang="en-US" dirty="0"/>
              <a:t>Improves trust and transparency</a:t>
            </a:r>
          </a:p>
          <a:p>
            <a:r>
              <a:rPr lang="en-US" dirty="0"/>
              <a:t>Reduces project risks</a:t>
            </a:r>
          </a:p>
          <a:p>
            <a:r>
              <a:rPr lang="en-US" dirty="0"/>
              <a:t>Ensures stakeholder satisfaction</a:t>
            </a:r>
          </a:p>
          <a:p>
            <a:r>
              <a:rPr lang="en-US" dirty="0"/>
              <a:t>Supports timely project completion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 Effective stakeholder management ensures cooperation and successful project delivery.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221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FD92-826E-1F2B-D27F-D376C4C2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1782"/>
            <a:ext cx="8596668" cy="66859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u="sng" dirty="0"/>
              <a:t>Data vs Information 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2296-C88E-AD3F-48D2-70EF841A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4504"/>
            <a:ext cx="8596668" cy="5196348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Distinguishing Raw Data from processed Information:</a:t>
            </a:r>
          </a:p>
          <a:p>
            <a:pPr marL="0" indent="0">
              <a:buNone/>
            </a:pPr>
            <a:r>
              <a:rPr lang="en-US" sz="2000" b="1" dirty="0"/>
              <a:t>🔹 </a:t>
            </a:r>
            <a:r>
              <a:rPr lang="en-US" sz="2000" b="1" u="sng" dirty="0"/>
              <a:t>What is Raw Data?</a:t>
            </a:r>
          </a:p>
          <a:p>
            <a:r>
              <a:rPr lang="en-US" dirty="0"/>
              <a:t>Raw data is the original facts or figures collected from different sources.</a:t>
            </a:r>
            <a:br>
              <a:rPr lang="en-US" dirty="0"/>
            </a:br>
            <a:r>
              <a:rPr lang="en-US" dirty="0"/>
              <a:t>It is not arranged or analyzed.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On its own, it does not give clear meaning.</a:t>
            </a:r>
          </a:p>
          <a:p>
            <a:r>
              <a:rPr lang="en-US" sz="2000" b="1" u="sng" dirty="0"/>
              <a:t>Example:</a:t>
            </a:r>
            <a:br>
              <a:rPr lang="en-US" sz="2400" dirty="0"/>
            </a:br>
            <a:r>
              <a:rPr lang="en-US" dirty="0"/>
              <a:t>Marks of students → 40, 55, 70, 65</a:t>
            </a:r>
          </a:p>
          <a:p>
            <a:r>
              <a:rPr lang="en-US" dirty="0"/>
              <a:t>Here, we only see numbers. We don’t know the average, highest, or performance level.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👉 Raw data is the </a:t>
            </a:r>
            <a:r>
              <a:rPr lang="en-US" b="1" dirty="0"/>
              <a:t>input</a:t>
            </a:r>
            <a:r>
              <a:rPr lang="en-US" dirty="0"/>
              <a:t> given to a computer or system.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119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08C54-5053-3A18-82E8-CC8DD9F51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3961"/>
            <a:ext cx="8596668" cy="59288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What is Processed Information?</a:t>
            </a:r>
          </a:p>
          <a:p>
            <a:r>
              <a:rPr lang="en-US" dirty="0"/>
              <a:t>Processed information is data that has been organized, calculated, or analyzed to make it meaningful.</a:t>
            </a:r>
            <a:br>
              <a:rPr lang="en-US" dirty="0"/>
            </a:br>
            <a:r>
              <a:rPr lang="en-US" dirty="0"/>
              <a:t>It helps people understand situations and make decisions.</a:t>
            </a:r>
          </a:p>
          <a:p>
            <a:r>
              <a:rPr lang="en-US" b="1" u="sng" dirty="0"/>
              <a:t>Example (from above data):</a:t>
            </a:r>
            <a:endParaRPr lang="en-US" u="sng" dirty="0"/>
          </a:p>
          <a:p>
            <a:r>
              <a:rPr lang="en-US" dirty="0"/>
              <a:t>Total marks = 230</a:t>
            </a:r>
          </a:p>
          <a:p>
            <a:r>
              <a:rPr lang="en-US" dirty="0"/>
              <a:t>Average = 57.5</a:t>
            </a:r>
          </a:p>
          <a:p>
            <a:r>
              <a:rPr lang="en-US" dirty="0"/>
              <a:t>Highest mark = 70</a:t>
            </a:r>
          </a:p>
          <a:p>
            <a:r>
              <a:rPr lang="en-US" dirty="0"/>
              <a:t>Now the data is meaningful and useful.</a:t>
            </a:r>
          </a:p>
          <a:p>
            <a:r>
              <a:rPr lang="en-US" dirty="0"/>
              <a:t>👉 Information is the </a:t>
            </a:r>
            <a:r>
              <a:rPr lang="en-US" b="1" dirty="0"/>
              <a:t>output</a:t>
            </a:r>
            <a:r>
              <a:rPr lang="en-US" dirty="0"/>
              <a:t> after processing.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D8BE7E-EB19-AEEF-AF9B-F1B68213A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527936"/>
              </p:ext>
            </p:extLst>
          </p:nvPr>
        </p:nvGraphicFramePr>
        <p:xfrm>
          <a:off x="923667" y="4971465"/>
          <a:ext cx="6676668" cy="1628752"/>
        </p:xfrm>
        <a:graphic>
          <a:graphicData uri="http://schemas.openxmlformats.org/drawingml/2006/table">
            <a:tbl>
              <a:tblPr/>
              <a:tblGrid>
                <a:gridCol w="3338334">
                  <a:extLst>
                    <a:ext uri="{9D8B030D-6E8A-4147-A177-3AD203B41FA5}">
                      <a16:colId xmlns:a16="http://schemas.microsoft.com/office/drawing/2014/main" val="84528384"/>
                    </a:ext>
                  </a:extLst>
                </a:gridCol>
                <a:gridCol w="3338334">
                  <a:extLst>
                    <a:ext uri="{9D8B030D-6E8A-4147-A177-3AD203B41FA5}">
                      <a16:colId xmlns:a16="http://schemas.microsoft.com/office/drawing/2014/main" val="720674231"/>
                    </a:ext>
                  </a:extLst>
                </a:gridCol>
              </a:tblGrid>
              <a:tr h="2340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Raw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Processed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935732"/>
                  </a:ext>
                </a:extLst>
              </a:tr>
              <a:tr h="2340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Unorganized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51218"/>
                  </a:ext>
                </a:extLst>
              </a:tr>
              <a:tr h="2340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No meaning alone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Meaningful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291817"/>
                  </a:ext>
                </a:extLst>
              </a:tr>
              <a:tr h="23403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363427"/>
                  </a:ext>
                </a:extLst>
              </a:tr>
              <a:tr h="40955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Cannot help directly in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Helps in decision 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9045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6F66CE2-D95D-F5F2-1BC2-86CF0114C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69" y="4444764"/>
            <a:ext cx="980407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Differences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875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DF0B6-A149-CFFB-AF64-04B04DDB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2" y="322007"/>
            <a:ext cx="8858864" cy="63516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AutoNum type="alphaUcPeriod" startAt="2"/>
            </a:pPr>
            <a:r>
              <a:rPr lang="en-US" sz="3100" b="1" u="sng" dirty="0">
                <a:solidFill>
                  <a:schemeClr val="accent2"/>
                </a:solidFill>
              </a:rPr>
              <a:t>The Transformation Process : Data to Information to Knowledge :</a:t>
            </a:r>
          </a:p>
          <a:p>
            <a:pPr marL="0" indent="0">
              <a:buNone/>
            </a:pPr>
            <a:r>
              <a:rPr lang="en-US" sz="2900" b="1" dirty="0"/>
              <a:t>🔹 </a:t>
            </a:r>
            <a:r>
              <a:rPr lang="en-US" sz="2900" b="1" u="sng" dirty="0"/>
              <a:t>1. Data (Raw Facts)</a:t>
            </a:r>
          </a:p>
          <a:p>
            <a:r>
              <a:rPr lang="en-US" sz="2600" dirty="0"/>
              <a:t>Basic facts and figures</a:t>
            </a:r>
          </a:p>
          <a:p>
            <a:r>
              <a:rPr lang="en-US" sz="2600" dirty="0"/>
              <a:t>Unorganized and unprocessed</a:t>
            </a:r>
          </a:p>
          <a:p>
            <a:r>
              <a:rPr lang="en-US" sz="2600" dirty="0"/>
              <a:t>No clear meaning by itself</a:t>
            </a:r>
          </a:p>
          <a:p>
            <a:r>
              <a:rPr lang="en-US" sz="2600" b="1" u="sng" dirty="0"/>
              <a:t>Example:</a:t>
            </a:r>
            <a:br>
              <a:rPr lang="en-US" sz="2600" dirty="0"/>
            </a:br>
            <a:r>
              <a:rPr lang="en-US" sz="2600" dirty="0"/>
              <a:t>Sales numbers → 100, 150, 200</a:t>
            </a:r>
          </a:p>
          <a:p>
            <a:pPr marL="0" indent="0">
              <a:buNone/>
            </a:pPr>
            <a:r>
              <a:rPr lang="en-US" sz="2600" dirty="0"/>
              <a:t>👉 Data is the starting point.</a:t>
            </a:r>
            <a:br>
              <a:rPr lang="en-US" sz="2600" dirty="0"/>
            </a:br>
            <a:endParaRPr lang="en-US" sz="2600" dirty="0"/>
          </a:p>
          <a:p>
            <a:pPr marL="0" indent="0">
              <a:buNone/>
            </a:pPr>
            <a:r>
              <a:rPr lang="en-US" sz="2900" b="1" dirty="0"/>
              <a:t>🔹 </a:t>
            </a:r>
            <a:r>
              <a:rPr lang="en-US" sz="2900" b="1" u="sng" dirty="0"/>
              <a:t>2. Information (Processed Data)</a:t>
            </a:r>
          </a:p>
          <a:p>
            <a:r>
              <a:rPr lang="en-US" sz="2600" dirty="0"/>
              <a:t>Data that has been organized and analyzed</a:t>
            </a:r>
          </a:p>
          <a:p>
            <a:r>
              <a:rPr lang="en-US" sz="2600" dirty="0"/>
              <a:t>Has meaning and purpose</a:t>
            </a:r>
          </a:p>
          <a:p>
            <a:r>
              <a:rPr lang="en-US" sz="2600" dirty="0"/>
              <a:t>Helps in understanding a situation</a:t>
            </a:r>
          </a:p>
          <a:p>
            <a:r>
              <a:rPr lang="en-US" sz="2600" b="1" u="sng" dirty="0"/>
              <a:t>Example:</a:t>
            </a:r>
            <a:endParaRPr lang="en-US" sz="2600" u="sng" dirty="0"/>
          </a:p>
          <a:p>
            <a:r>
              <a:rPr lang="en-US" sz="2600" dirty="0"/>
              <a:t>Total sales = 450</a:t>
            </a:r>
          </a:p>
          <a:p>
            <a:r>
              <a:rPr lang="en-US" sz="2600" dirty="0"/>
              <a:t>Average sales = 150</a:t>
            </a:r>
          </a:p>
          <a:p>
            <a:r>
              <a:rPr lang="en-US" sz="2600" dirty="0"/>
              <a:t>Highest sales = 200</a:t>
            </a:r>
          </a:p>
          <a:p>
            <a:pPr marL="0" indent="0">
              <a:buNone/>
            </a:pPr>
            <a:r>
              <a:rPr lang="en-US" sz="2600" dirty="0"/>
              <a:t>👉 Information explains “what is happening”.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32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D290-ADAF-FCC1-40C2-87DBC4E7A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9" y="560439"/>
            <a:ext cx="8596668" cy="605667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3. Knowledge (Understanding &amp; Experience) :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dirty="0"/>
              <a:t>Information combined with experience and insight</a:t>
            </a:r>
          </a:p>
          <a:p>
            <a:r>
              <a:rPr lang="en-US" dirty="0"/>
              <a:t>Helps in decision-making</a:t>
            </a:r>
          </a:p>
          <a:p>
            <a:r>
              <a:rPr lang="en-US" dirty="0"/>
              <a:t>Explains “why it is happening” and “what to do next”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Example:</a:t>
            </a:r>
            <a:br>
              <a:rPr lang="en-US" dirty="0"/>
            </a:br>
            <a:r>
              <a:rPr lang="en-US" dirty="0"/>
              <a:t>After analyzing sales, we understand that sales are increasing each month.</a:t>
            </a:r>
            <a:br>
              <a:rPr lang="en-US" dirty="0"/>
            </a:br>
            <a:r>
              <a:rPr lang="en-US" dirty="0"/>
              <a:t>So, we decide to increase product stock.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👉 Knowledge helps in taking action.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000" b="1" dirty="0"/>
              <a:t>🔄</a:t>
            </a:r>
            <a:r>
              <a:rPr lang="en-US" sz="2000" b="1" u="sng" dirty="0"/>
              <a:t> Simple Flow:</a:t>
            </a:r>
          </a:p>
          <a:p>
            <a:r>
              <a:rPr lang="en-US" dirty="0"/>
              <a:t>Data → Processing → Information → Understanding → Knowledge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543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4C7B9-B0C0-B331-6C52-B1915882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27587"/>
            <a:ext cx="8596668" cy="5545394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3"/>
            </a:pPr>
            <a:r>
              <a:rPr lang="en-US" sz="2800" b="1" u="sng" dirty="0">
                <a:solidFill>
                  <a:schemeClr val="accent2"/>
                </a:solidFill>
              </a:rPr>
              <a:t>Value of Information in Decision Making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r>
              <a:rPr lang="en-US" sz="2400" b="1" u="sng" dirty="0"/>
              <a:t>Value of Information in Decision Making :</a:t>
            </a:r>
          </a:p>
          <a:p>
            <a:pPr marL="0" indent="0">
              <a:buNone/>
            </a:pPr>
            <a:endParaRPr lang="en-US" sz="2800" b="1" u="sng" dirty="0"/>
          </a:p>
          <a:p>
            <a:r>
              <a:rPr lang="en-US" sz="2000" dirty="0"/>
              <a:t>Information reduces uncertainty</a:t>
            </a:r>
          </a:p>
          <a:p>
            <a:r>
              <a:rPr lang="en-US" sz="2000" dirty="0"/>
              <a:t>Helps in making accurate decisions</a:t>
            </a:r>
          </a:p>
          <a:p>
            <a:r>
              <a:rPr lang="en-US" sz="2000" dirty="0"/>
              <a:t>Provides facts instead of assumptions</a:t>
            </a:r>
          </a:p>
          <a:p>
            <a:r>
              <a:rPr lang="en-US" sz="2000" dirty="0"/>
              <a:t>Improves confidence in decision-making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🎤  Information helps managers take decisions based on facts, not guesses.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13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A952-6723-0C34-A15B-3037A278B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81782"/>
            <a:ext cx="8596668" cy="644504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Role of Information in Business Decisions :</a:t>
            </a:r>
          </a:p>
          <a:p>
            <a:r>
              <a:rPr lang="en-US" dirty="0"/>
              <a:t>Helps in planning and forecasting</a:t>
            </a:r>
          </a:p>
          <a:p>
            <a:r>
              <a:rPr lang="en-US" dirty="0"/>
              <a:t>Identifies risks and opportunities</a:t>
            </a:r>
          </a:p>
          <a:p>
            <a:r>
              <a:rPr lang="en-US" dirty="0"/>
              <a:t>Supports problem-solving</a:t>
            </a:r>
          </a:p>
          <a:p>
            <a:r>
              <a:rPr lang="en-US" dirty="0"/>
              <a:t>Helps compare different alternatives</a:t>
            </a:r>
          </a:p>
          <a:p>
            <a:r>
              <a:rPr lang="en-US" dirty="0"/>
              <a:t>Improves strategy development</a:t>
            </a:r>
          </a:p>
          <a:p>
            <a:r>
              <a:rPr lang="en-US" dirty="0"/>
              <a:t>🎤 Proper information guides businesses to choose the best option among many alternatives.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 Benefits of Using Information :</a:t>
            </a:r>
            <a:endParaRPr lang="en-US" b="1" u="sng" dirty="0"/>
          </a:p>
          <a:p>
            <a:r>
              <a:rPr lang="en-US" dirty="0"/>
              <a:t>Saves time and cost</a:t>
            </a:r>
          </a:p>
          <a:p>
            <a:r>
              <a:rPr lang="en-US" dirty="0"/>
              <a:t>Reduces chances of mistakes</a:t>
            </a:r>
          </a:p>
          <a:p>
            <a:r>
              <a:rPr lang="en-US" dirty="0"/>
              <a:t>Increases productivity</a:t>
            </a:r>
          </a:p>
          <a:p>
            <a:r>
              <a:rPr lang="en-US" dirty="0"/>
              <a:t>Improves overall performance</a:t>
            </a:r>
          </a:p>
          <a:p>
            <a:r>
              <a:rPr lang="en-US" dirty="0"/>
              <a:t>Gives competitive advantage</a:t>
            </a:r>
          </a:p>
          <a:p>
            <a:r>
              <a:rPr lang="en-US" dirty="0"/>
              <a:t>🎤 Accurate and timely information leads to smarter and more successful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169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91D9-98F2-4CC2-CB40-B25298C7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89" y="521110"/>
            <a:ext cx="9912008" cy="69809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u="sng" dirty="0"/>
              <a:t>Overview of Data-Driven Decision Making :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8C71-B2C8-EEBE-DB91-81CCC9444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4" y="1288027"/>
            <a:ext cx="8596668" cy="5569973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Principles of Data-Driven Decision Making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r>
              <a:rPr lang="en-US" sz="2000" b="1" u="sng" dirty="0"/>
              <a:t>What is Data-Driven Decision Making?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dirty="0"/>
              <a:t>Making decisions based on data and analysis</a:t>
            </a:r>
          </a:p>
          <a:p>
            <a:r>
              <a:rPr lang="en-US" dirty="0"/>
              <a:t>Uses facts instead of assumptions</a:t>
            </a:r>
          </a:p>
          <a:p>
            <a:r>
              <a:rPr lang="en-US" dirty="0"/>
              <a:t>Relies on measurable evidence</a:t>
            </a:r>
          </a:p>
          <a:p>
            <a:r>
              <a:rPr lang="en-US" dirty="0"/>
              <a:t>Supports logical and objective thinking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🎤  Data-driven decision making means taking decisions based on real facts and numbers.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792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2A89-0D55-AB31-CA18-7E45BA9F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21" y="383457"/>
            <a:ext cx="8596668" cy="629264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Core Principles of Data-Driven Decision Making 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u="sng" dirty="0"/>
              <a:t>Accuracy &amp; Quality of Data</a:t>
            </a:r>
          </a:p>
          <a:p>
            <a:r>
              <a:rPr lang="en-US" dirty="0"/>
              <a:t>Collect relevant and reliable data</a:t>
            </a:r>
          </a:p>
          <a:p>
            <a:r>
              <a:rPr lang="en-US" dirty="0"/>
              <a:t>Ensure data is accurate and up-to-date</a:t>
            </a:r>
          </a:p>
          <a:p>
            <a:r>
              <a:rPr lang="en-US" dirty="0"/>
              <a:t>Avoid incomplete or biased data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 </a:t>
            </a:r>
            <a:r>
              <a:rPr lang="en-US" b="1" u="sng" dirty="0"/>
              <a:t>Proper Analysis &amp; Interpretation</a:t>
            </a:r>
          </a:p>
          <a:p>
            <a:r>
              <a:rPr lang="en-US" dirty="0"/>
              <a:t>Use appropriate tools and techniques</a:t>
            </a:r>
          </a:p>
          <a:p>
            <a:r>
              <a:rPr lang="en-US" dirty="0"/>
              <a:t>Identify patterns and trends</a:t>
            </a:r>
          </a:p>
          <a:p>
            <a:r>
              <a:rPr lang="en-US" dirty="0"/>
              <a:t>Avoid misinterpretation of data.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u="sng" dirty="0"/>
              <a:t>Evidence-Based Action</a:t>
            </a:r>
          </a:p>
          <a:p>
            <a:r>
              <a:rPr lang="en-US" dirty="0"/>
              <a:t>Base decisions on factual evidence</a:t>
            </a:r>
          </a:p>
          <a:p>
            <a:r>
              <a:rPr lang="en-US" dirty="0"/>
              <a:t>Avoid guesswork or assumptions</a:t>
            </a:r>
          </a:p>
          <a:p>
            <a:r>
              <a:rPr lang="en-US" dirty="0"/>
              <a:t>Support decisions with data findings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612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8E81B-3B73-833E-ACED-15C825E2D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96" y="508769"/>
            <a:ext cx="8596668" cy="6059179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2"/>
            </a:pPr>
            <a:r>
              <a:rPr lang="en-US" sz="2800" b="1" u="sng" dirty="0">
                <a:solidFill>
                  <a:schemeClr val="accent2"/>
                </a:solidFill>
              </a:rPr>
              <a:t>Benefits of using Data for Decisions :</a:t>
            </a:r>
          </a:p>
          <a:p>
            <a:pPr marL="0" indent="0">
              <a:buNone/>
            </a:pPr>
            <a:endParaRPr lang="en-US" sz="2800" b="1" u="sng" dirty="0">
              <a:solidFill>
                <a:schemeClr val="accent2"/>
              </a:solidFill>
            </a:endParaRPr>
          </a:p>
          <a:p>
            <a:r>
              <a:rPr lang="en-US" sz="2000" b="1" dirty="0"/>
              <a:t>Improves Accuracy:</a:t>
            </a:r>
            <a:r>
              <a:rPr lang="en-US" sz="2000" dirty="0"/>
              <a:t> Decisions are based on real facts instead of assumptions.</a:t>
            </a:r>
          </a:p>
          <a:p>
            <a:r>
              <a:rPr lang="en-US" sz="2000" b="1" dirty="0"/>
              <a:t>Reduces Risk:</a:t>
            </a:r>
            <a:r>
              <a:rPr lang="en-US" sz="2000" dirty="0"/>
              <a:t> Helps identify problems and avoid mistakes.</a:t>
            </a:r>
          </a:p>
          <a:p>
            <a:r>
              <a:rPr lang="en-US" sz="2000" b="1" dirty="0"/>
              <a:t>Better Planning:</a:t>
            </a:r>
            <a:r>
              <a:rPr lang="en-US" sz="2000" dirty="0"/>
              <a:t> Supports forecasting and future strategies.</a:t>
            </a:r>
          </a:p>
          <a:p>
            <a:r>
              <a:rPr lang="en-US" sz="2000" b="1" dirty="0"/>
              <a:t>Saves Time &amp; Cost:</a:t>
            </a:r>
            <a:r>
              <a:rPr lang="en-US" sz="2000" dirty="0"/>
              <a:t> Prevents wrong decisions and resource waste.</a:t>
            </a:r>
          </a:p>
          <a:p>
            <a:r>
              <a:rPr lang="en-US" sz="2000" b="1" dirty="0"/>
              <a:t>Improves Performance:</a:t>
            </a:r>
            <a:r>
              <a:rPr lang="en-US" sz="2000" dirty="0"/>
              <a:t> Increases efficiency and productivity.</a:t>
            </a:r>
          </a:p>
          <a:p>
            <a:r>
              <a:rPr lang="en-US" sz="2000" b="1" dirty="0"/>
              <a:t>Supports Clear Justification:</a:t>
            </a:r>
            <a:r>
              <a:rPr lang="en-US" sz="2000" dirty="0"/>
              <a:t> Decisions can be explained with proper evidence.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🎤  Using data helps organizations make smarter, safer, and more effective decisions.</a:t>
            </a:r>
          </a:p>
          <a:p>
            <a:pPr marL="0" indent="0">
              <a:buNone/>
            </a:pPr>
            <a:endParaRPr lang="en-US" sz="2000" b="1" u="sng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11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BA13-7CCE-D85C-9834-11C210F1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02" y="454742"/>
            <a:ext cx="8596668" cy="6105832"/>
          </a:xfrm>
        </p:spPr>
        <p:txBody>
          <a:bodyPr>
            <a:normAutofit/>
          </a:bodyPr>
          <a:lstStyle/>
          <a:p>
            <a:pPr marL="457200" indent="-457200">
              <a:buAutoNum type="alphaLcPeriod" startAt="3"/>
            </a:pPr>
            <a:r>
              <a:rPr lang="en-US" sz="2800" b="1" u="sng" dirty="0">
                <a:solidFill>
                  <a:schemeClr val="accent2"/>
                </a:solidFill>
              </a:rPr>
              <a:t>Steps in the Data- Driven Decision Process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Problem Identification</a:t>
            </a:r>
          </a:p>
          <a:p>
            <a:r>
              <a:rPr lang="en-US" sz="1900" dirty="0"/>
              <a:t>Identify and clearly define the problem</a:t>
            </a:r>
          </a:p>
          <a:p>
            <a:r>
              <a:rPr lang="en-US" sz="1900" dirty="0"/>
              <a:t>Understand the objective of the decision</a:t>
            </a:r>
          </a:p>
          <a:p>
            <a:r>
              <a:rPr lang="en-US" sz="1900" dirty="0"/>
              <a:t>Set clear and measurable goals</a:t>
            </a:r>
          </a:p>
          <a:p>
            <a:r>
              <a:rPr lang="en-US" sz="1900" dirty="0"/>
              <a:t>🎤  The first step is to clearly understand what problem needs to be solved.</a:t>
            </a:r>
            <a:br>
              <a:rPr lang="en-US" sz="1900" dirty="0"/>
            </a:br>
            <a:endParaRPr lang="en-US" sz="19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 Data Collection</a:t>
            </a:r>
          </a:p>
          <a:p>
            <a:r>
              <a:rPr lang="en-US" dirty="0"/>
              <a:t>Identify relevant data sources</a:t>
            </a:r>
          </a:p>
          <a:p>
            <a:r>
              <a:rPr lang="en-US" dirty="0"/>
              <a:t>Collect accurate and reliable data</a:t>
            </a:r>
          </a:p>
          <a:p>
            <a:r>
              <a:rPr lang="en-US" dirty="0"/>
              <a:t>Ensure data is complete and up-to-date</a:t>
            </a:r>
          </a:p>
          <a:p>
            <a:r>
              <a:rPr lang="en-US" dirty="0"/>
              <a:t>🎤 After defining the problem, we collect the necessary and accurate data.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116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34CC-7086-327E-33E4-0969737DC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21109"/>
            <a:ext cx="8596668" cy="6096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Data Analysis :</a:t>
            </a:r>
          </a:p>
          <a:p>
            <a:r>
              <a:rPr lang="en-US" dirty="0"/>
              <a:t>Organize and clean the data</a:t>
            </a:r>
          </a:p>
          <a:p>
            <a:r>
              <a:rPr lang="en-US" dirty="0"/>
              <a:t>Analyze data using proper tools</a:t>
            </a:r>
          </a:p>
          <a:p>
            <a:r>
              <a:rPr lang="en-US" dirty="0"/>
              <a:t>Identify trends, patterns, and insights.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Collected data is analyzed to convert it into meaningful information.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</a:t>
            </a:r>
            <a:r>
              <a:rPr lang="en-US" sz="2400" b="1" u="sng" dirty="0"/>
              <a:t>Decision &amp; Evaluation :</a:t>
            </a:r>
            <a:endParaRPr lang="en-US" b="1" u="sng" dirty="0"/>
          </a:p>
          <a:p>
            <a:r>
              <a:rPr lang="en-US" dirty="0"/>
              <a:t>Make decisions based on analysis</a:t>
            </a:r>
          </a:p>
          <a:p>
            <a:r>
              <a:rPr lang="en-US" dirty="0"/>
              <a:t>Implement the chosen solution</a:t>
            </a:r>
          </a:p>
          <a:p>
            <a:r>
              <a:rPr lang="en-US" dirty="0"/>
              <a:t>Monitor outcomes and measure performance</a:t>
            </a:r>
          </a:p>
          <a:p>
            <a:r>
              <a:rPr lang="en-US" dirty="0"/>
              <a:t>Make improvements if needed.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🎤 Following these steps ensures logical, accurate, and effective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952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283D-5D8B-62D7-ED94-A0FE7548D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489" y="430161"/>
            <a:ext cx="8596668" cy="5997678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4"/>
            </a:pPr>
            <a:r>
              <a:rPr lang="en-US" sz="2800" b="1" u="sng" dirty="0">
                <a:solidFill>
                  <a:schemeClr val="accent2"/>
                </a:solidFill>
              </a:rPr>
              <a:t>Challenges and Pitfalls in Data–Driven Approaches :</a:t>
            </a:r>
            <a:endParaRPr lang="en-US" sz="2400" b="1" u="sng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🔹 </a:t>
            </a:r>
            <a:r>
              <a:rPr lang="en-US" sz="2000" b="1" u="sng" dirty="0"/>
              <a:t>Challenges in Data-Driven Approaches :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sz="2000" b="1" dirty="0"/>
              <a:t>Poor Data Quality</a:t>
            </a:r>
            <a:br>
              <a:rPr lang="en-US" sz="2000" dirty="0"/>
            </a:br>
            <a:r>
              <a:rPr lang="en-US" sz="2000" dirty="0"/>
              <a:t>Inaccurate or incomplete data can lead to wrong decisions.</a:t>
            </a:r>
          </a:p>
          <a:p>
            <a:r>
              <a:rPr lang="en-US" sz="2000" b="1" dirty="0"/>
              <a:t>Large Volume of Data</a:t>
            </a:r>
            <a:br>
              <a:rPr lang="en-US" sz="2000" dirty="0"/>
            </a:br>
            <a:r>
              <a:rPr lang="en-US" sz="2000" dirty="0"/>
              <a:t>Handling and analyzing huge amounts of data is difficult.</a:t>
            </a:r>
          </a:p>
          <a:p>
            <a:r>
              <a:rPr lang="en-US" sz="2000" b="1" dirty="0"/>
              <a:t>High Cost of Technology</a:t>
            </a:r>
            <a:br>
              <a:rPr lang="en-US" sz="2000" dirty="0"/>
            </a:br>
            <a:r>
              <a:rPr lang="en-US" sz="2000" dirty="0"/>
              <a:t>Data tools, software, and storage systems are expensive.</a:t>
            </a:r>
          </a:p>
          <a:p>
            <a:r>
              <a:rPr lang="en-US" sz="2000" b="1" dirty="0"/>
              <a:t>Lack of Skilled Professionals</a:t>
            </a:r>
            <a:br>
              <a:rPr lang="en-US" sz="2000" dirty="0"/>
            </a:br>
            <a:r>
              <a:rPr lang="en-US" sz="2000" dirty="0"/>
              <a:t>Organizations may not have trained data analysts.</a:t>
            </a:r>
          </a:p>
          <a:p>
            <a:r>
              <a:rPr lang="en-US" sz="2000" b="1" dirty="0"/>
              <a:t>Data Integration Issues</a:t>
            </a:r>
            <a:br>
              <a:rPr lang="en-US" sz="2000" dirty="0"/>
            </a:br>
            <a:r>
              <a:rPr lang="en-US" sz="2000" dirty="0"/>
              <a:t>Combining data from different sources can be complex.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857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0B6EF-3D45-FFCB-11E5-92C2EF7D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644" y="737419"/>
            <a:ext cx="8596668" cy="58993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Pitfalls in Data-Driven Approaches :</a:t>
            </a:r>
          </a:p>
          <a:p>
            <a:pPr marL="0" indent="0">
              <a:buNone/>
            </a:pPr>
            <a:endParaRPr lang="en-US" sz="2400" b="1" u="sng" dirty="0"/>
          </a:p>
          <a:p>
            <a:r>
              <a:rPr lang="en-US" sz="2000" b="1" dirty="0"/>
              <a:t>Data Bias</a:t>
            </a:r>
            <a:br>
              <a:rPr lang="en-US" sz="2000" dirty="0"/>
            </a:br>
            <a:r>
              <a:rPr lang="en-US" sz="2000" dirty="0"/>
              <a:t>Biased data can produce unfair or misleading results.</a:t>
            </a:r>
          </a:p>
          <a:p>
            <a:r>
              <a:rPr lang="en-US" sz="2000" b="1" dirty="0"/>
              <a:t>Misinterpretation of Data</a:t>
            </a:r>
            <a:br>
              <a:rPr lang="en-US" sz="2000" dirty="0"/>
            </a:br>
            <a:r>
              <a:rPr lang="en-US" sz="2000" dirty="0"/>
              <a:t>Wrong understanding of data leads to poor decisions.</a:t>
            </a:r>
          </a:p>
          <a:p>
            <a:r>
              <a:rPr lang="en-US" sz="2000" b="1" dirty="0"/>
              <a:t>Confusing Correlation with Causation</a:t>
            </a:r>
            <a:br>
              <a:rPr lang="en-US" sz="2000" dirty="0"/>
            </a:br>
            <a:r>
              <a:rPr lang="en-US" sz="2000" dirty="0"/>
              <a:t>Assuming one factor causes another without proper proof.</a:t>
            </a:r>
          </a:p>
          <a:p>
            <a:r>
              <a:rPr lang="en-US" sz="2000" b="1" dirty="0"/>
              <a:t>Over-Reliance on Data</a:t>
            </a:r>
            <a:br>
              <a:rPr lang="en-US" sz="2000" dirty="0"/>
            </a:br>
            <a:r>
              <a:rPr lang="en-US" sz="2000" dirty="0"/>
              <a:t>Ignoring human judgment and experience.</a:t>
            </a:r>
          </a:p>
          <a:p>
            <a:r>
              <a:rPr lang="en-US" sz="2000" b="1" dirty="0"/>
              <a:t>Ignoring Privacy and Security</a:t>
            </a:r>
            <a:br>
              <a:rPr lang="en-US" sz="2000" dirty="0"/>
            </a:br>
            <a:r>
              <a:rPr lang="en-US" sz="2000" dirty="0"/>
              <a:t>Risk of data misuse or data breaches.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912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7568-8E86-42C9-3682-3A169CDC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35" y="333218"/>
            <a:ext cx="9469556" cy="73849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u="sng" dirty="0"/>
              <a:t>Case Discussions / Real–Life Examples 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BAB0C-7522-92DB-27CB-6F9B4B81C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60" y="1229033"/>
            <a:ext cx="8596668" cy="52957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lphaUcPeriod"/>
            </a:pPr>
            <a:r>
              <a:rPr lang="en-US" sz="2400" b="1" u="sng" dirty="0">
                <a:solidFill>
                  <a:schemeClr val="accent2"/>
                </a:solidFill>
              </a:rPr>
              <a:t>Analysis of Business Scenarios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r>
              <a:rPr lang="en-US" sz="2200" b="1" u="sng" dirty="0"/>
              <a:t>What Is Scenario Analysis?</a:t>
            </a:r>
          </a:p>
          <a:p>
            <a:r>
              <a:rPr lang="en-US" sz="2000" b="1" dirty="0"/>
              <a:t>Definition:</a:t>
            </a:r>
            <a:endParaRPr lang="en-US" sz="2000" dirty="0"/>
          </a:p>
          <a:p>
            <a:r>
              <a:rPr lang="en-US" sz="2000" dirty="0"/>
              <a:t>A technique used to </a:t>
            </a:r>
            <a:r>
              <a:rPr lang="en-US" sz="2000" b="1" dirty="0"/>
              <a:t>evaluate possible future events</a:t>
            </a:r>
            <a:r>
              <a:rPr lang="en-US" sz="2000" dirty="0"/>
              <a:t> by considering alternative outcomes. </a:t>
            </a:r>
          </a:p>
          <a:p>
            <a:r>
              <a:rPr lang="en-US" sz="2000" dirty="0"/>
              <a:t>It explores </a:t>
            </a:r>
            <a:r>
              <a:rPr lang="en-US" sz="2000" i="1" dirty="0"/>
              <a:t>“what if”</a:t>
            </a:r>
            <a:r>
              <a:rPr lang="en-US" sz="2000" dirty="0"/>
              <a:t> situations to see how decisions may play out under different conditions. </a:t>
            </a:r>
          </a:p>
          <a:p>
            <a:r>
              <a:rPr lang="en-US" sz="2000" dirty="0"/>
              <a:t>Widely used in finance, risk management, planning, and strategic decisions. </a:t>
            </a:r>
          </a:p>
          <a:p>
            <a:r>
              <a:rPr lang="en-US" sz="2000" b="1" dirty="0"/>
              <a:t>Key Purpose:</a:t>
            </a:r>
            <a:br>
              <a:rPr lang="en-US" sz="2000" dirty="0"/>
            </a:br>
            <a:r>
              <a:rPr lang="en-US" sz="2000" dirty="0"/>
              <a:t>✔ Helps forecast future results</a:t>
            </a:r>
            <a:br>
              <a:rPr lang="en-US" sz="2000" dirty="0"/>
            </a:br>
            <a:r>
              <a:rPr lang="en-US" sz="2000" dirty="0"/>
              <a:t>✔ Assesses risk under uncertainty</a:t>
            </a:r>
            <a:br>
              <a:rPr lang="en-US" sz="2000" dirty="0"/>
            </a:br>
            <a:r>
              <a:rPr lang="en-US" sz="2000" dirty="0"/>
              <a:t>✔ Guides better decisions</a:t>
            </a:r>
            <a:br>
              <a:rPr lang="en-US" sz="2000" dirty="0"/>
            </a:br>
            <a:r>
              <a:rPr lang="en-US" sz="2000" dirty="0"/>
              <a:t>✔ Prepares for different potential scenarios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74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99C1-2074-8C29-FED5-257F065E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34297"/>
            <a:ext cx="8596668" cy="6341805"/>
          </a:xfrm>
        </p:spPr>
        <p:txBody>
          <a:bodyPr/>
          <a:lstStyle/>
          <a:p>
            <a:r>
              <a:rPr lang="en-US" sz="2400" b="1" u="sng" dirty="0"/>
              <a:t>Components of Scenario Analysis :</a:t>
            </a:r>
          </a:p>
          <a:p>
            <a:r>
              <a:rPr lang="en-US" sz="2000" b="1" u="sng" dirty="0"/>
              <a:t>How It Works:</a:t>
            </a:r>
          </a:p>
          <a:p>
            <a:r>
              <a:rPr lang="en-US" sz="2000" b="1" dirty="0"/>
              <a:t>Identify key variables</a:t>
            </a:r>
            <a:r>
              <a:rPr lang="en-US" sz="2000" dirty="0"/>
              <a:t> (e.g., market growth, costs, interest rates) </a:t>
            </a:r>
          </a:p>
          <a:p>
            <a:r>
              <a:rPr lang="en-US" sz="2000" dirty="0"/>
              <a:t>Create multiple scenarios (possible futures)</a:t>
            </a:r>
          </a:p>
          <a:p>
            <a:pPr lvl="1"/>
            <a:r>
              <a:rPr lang="en-US" sz="1800" b="1" dirty="0"/>
              <a:t>Base Case</a:t>
            </a:r>
            <a:r>
              <a:rPr lang="en-US" sz="1800" dirty="0"/>
              <a:t> – Most likely outcome </a:t>
            </a:r>
          </a:p>
          <a:p>
            <a:pPr lvl="1"/>
            <a:r>
              <a:rPr lang="en-US" sz="1800" b="1" dirty="0"/>
              <a:t>Best Case</a:t>
            </a:r>
            <a:r>
              <a:rPr lang="en-US" sz="1800" dirty="0"/>
              <a:t> – Optimistic outcome </a:t>
            </a:r>
          </a:p>
          <a:p>
            <a:pPr lvl="1"/>
            <a:r>
              <a:rPr lang="en-US" sz="1800" b="1" dirty="0"/>
              <a:t>Worst Case</a:t>
            </a:r>
            <a:r>
              <a:rPr lang="en-US" sz="1800" dirty="0"/>
              <a:t> – Pessimistic outcome </a:t>
            </a:r>
          </a:p>
          <a:p>
            <a:r>
              <a:rPr lang="en-US" sz="2000" dirty="0"/>
              <a:t>Analyze outcomes and impacts on decisions 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b="1" u="sng" dirty="0"/>
              <a:t>Why Scenario Analysis Matters</a:t>
            </a:r>
          </a:p>
          <a:p>
            <a:r>
              <a:rPr lang="en-US" sz="2000" b="1" u="sng" dirty="0"/>
              <a:t>Benefits:</a:t>
            </a:r>
            <a:br>
              <a:rPr lang="en-US" sz="2000" dirty="0"/>
            </a:br>
            <a:r>
              <a:rPr lang="en-US" sz="2000" dirty="0"/>
              <a:t>✔ Encourages thinking beyond a single forecast</a:t>
            </a:r>
            <a:br>
              <a:rPr lang="en-US" sz="2000" dirty="0"/>
            </a:br>
            <a:r>
              <a:rPr lang="en-US" sz="2000" dirty="0"/>
              <a:t>✔ Reveals range of possible outcomes</a:t>
            </a:r>
            <a:br>
              <a:rPr lang="en-US" sz="2000" dirty="0"/>
            </a:br>
            <a:r>
              <a:rPr lang="en-US" sz="2000" dirty="0"/>
              <a:t>✔ Helps to manage risks proactively</a:t>
            </a:r>
            <a:br>
              <a:rPr lang="en-US" sz="2000" dirty="0"/>
            </a:br>
            <a:r>
              <a:rPr lang="en-US" sz="2000" dirty="0"/>
              <a:t>✔ Improves strategic planning and resilience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3466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60869-E8D1-45E8-3237-728A5B16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50" y="518652"/>
            <a:ext cx="8596668" cy="582069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Applications:</a:t>
            </a:r>
            <a:br>
              <a:rPr lang="en-US" dirty="0"/>
            </a:br>
            <a:r>
              <a:rPr lang="en-US" dirty="0"/>
              <a:t>🎯 Investment decision-making</a:t>
            </a:r>
            <a:br>
              <a:rPr lang="en-US" dirty="0"/>
            </a:br>
            <a:r>
              <a:rPr lang="en-US" dirty="0"/>
              <a:t>🎯 Business strategy planning</a:t>
            </a:r>
            <a:br>
              <a:rPr lang="en-US" dirty="0"/>
            </a:br>
            <a:r>
              <a:rPr lang="en-US" dirty="0"/>
              <a:t>🎯 Risk management &amp; stress testing</a:t>
            </a:r>
            <a:br>
              <a:rPr lang="en-US" dirty="0"/>
            </a:br>
            <a:r>
              <a:rPr lang="en-US" dirty="0"/>
              <a:t>🎯 Budgeting &amp; forecasting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 Limitations &amp; Final Notes :</a:t>
            </a:r>
          </a:p>
          <a:p>
            <a:pPr marL="0" indent="0">
              <a:buNone/>
            </a:pPr>
            <a:endParaRPr lang="en-US" sz="2400" b="1" u="sng" dirty="0"/>
          </a:p>
          <a:p>
            <a:r>
              <a:rPr lang="en-US" sz="2000" b="1" u="sng" dirty="0"/>
              <a:t>Limitations: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  ⚠ Depends on quality of assumptions and data </a:t>
            </a:r>
            <a:br>
              <a:rPr lang="en-US" dirty="0"/>
            </a:br>
            <a:r>
              <a:rPr lang="en-US" dirty="0"/>
              <a:t>       ⚠ Cannot predict unforeseen events with certainty </a:t>
            </a:r>
          </a:p>
          <a:p>
            <a:r>
              <a:rPr lang="en-US" sz="2000" b="1" u="sng" dirty="0"/>
              <a:t>Summary: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Scenario analysis is a </a:t>
            </a:r>
            <a:r>
              <a:rPr lang="en-US" b="1" dirty="0"/>
              <a:t>forward-looking “what-if” analysis tool</a:t>
            </a:r>
            <a:r>
              <a:rPr lang="en-US" dirty="0"/>
              <a:t> that helps      organizations prepare for multiple future possibilities and make informed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5551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EF76-88F4-004F-FD38-C272F456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63" y="364355"/>
            <a:ext cx="9666203" cy="1061883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u="sng" dirty="0"/>
              <a:t>Introduction to Data Governance &amp; Data Ethics :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8E98-3E3D-66F4-D3B8-7BA75702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813" y="1233948"/>
            <a:ext cx="8319182" cy="562405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lphaUcPeriod"/>
            </a:pPr>
            <a:r>
              <a:rPr lang="en-US" sz="2400" b="1" u="sng" dirty="0"/>
              <a:t>What is Data Governance ?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200" b="1" dirty="0"/>
              <a:t>Data Governance</a:t>
            </a:r>
            <a:r>
              <a:rPr lang="en-US" sz="2200" dirty="0"/>
              <a:t> is the process of managing and controlling an organization’s data to ensure it is </a:t>
            </a:r>
            <a:r>
              <a:rPr lang="en-US" sz="2200" b="1" dirty="0"/>
              <a:t>accurate, secure, consistent, and properly used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It sets </a:t>
            </a:r>
            <a:r>
              <a:rPr lang="en-US" sz="2200" b="1" dirty="0"/>
              <a:t>rules, policies, and responsibilities</a:t>
            </a:r>
            <a:r>
              <a:rPr lang="en-US" sz="2200" dirty="0"/>
              <a:t> for handling data.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u="sng" dirty="0"/>
              <a:t>Why is Data Governance Important?</a:t>
            </a:r>
          </a:p>
          <a:p>
            <a:pPr marL="0" indent="0">
              <a:buNone/>
            </a:pPr>
            <a:endParaRPr lang="en-US" sz="2400" b="1" u="sng" dirty="0"/>
          </a:p>
          <a:p>
            <a:r>
              <a:rPr lang="en-US" sz="2000" dirty="0"/>
              <a:t>Ensures </a:t>
            </a:r>
            <a:r>
              <a:rPr lang="en-US" sz="2000" b="1" dirty="0"/>
              <a:t>data accuracy and quality</a:t>
            </a:r>
            <a:endParaRPr lang="en-US" sz="2000" dirty="0"/>
          </a:p>
          <a:p>
            <a:r>
              <a:rPr lang="en-US" sz="2000" dirty="0"/>
              <a:t>Protects data from </a:t>
            </a:r>
            <a:r>
              <a:rPr lang="en-US" sz="2000" b="1" dirty="0"/>
              <a:t>unauthorized access</a:t>
            </a:r>
            <a:endParaRPr lang="en-US" sz="2000" dirty="0"/>
          </a:p>
          <a:p>
            <a:r>
              <a:rPr lang="en-US" sz="2000" dirty="0"/>
              <a:t>Helps in </a:t>
            </a:r>
            <a:r>
              <a:rPr lang="en-US" sz="2000" b="1" dirty="0"/>
              <a:t>better decision-making</a:t>
            </a:r>
            <a:endParaRPr lang="en-US" sz="2000" dirty="0"/>
          </a:p>
          <a:p>
            <a:r>
              <a:rPr lang="en-US" sz="2000" dirty="0"/>
              <a:t>Ensures compliance with laws and regulations</a:t>
            </a:r>
          </a:p>
          <a:p>
            <a:r>
              <a:rPr lang="en-US" sz="2000" dirty="0"/>
              <a:t>Reduces data errors and duplication</a:t>
            </a:r>
          </a:p>
          <a:p>
            <a:pPr marL="0" indent="0">
              <a:buNone/>
            </a:pP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11285339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EDAA6-03AC-73CA-5BD0-F8EC78AD3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44131"/>
            <a:ext cx="8596668" cy="63123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/>
              <a:t>Benefits of Data Governance :</a:t>
            </a:r>
          </a:p>
          <a:p>
            <a:r>
              <a:rPr lang="en-US" sz="16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Improves Data Accuracy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Ensures data is correct, complete, and consistent across the organization.</a:t>
            </a:r>
          </a:p>
          <a:p>
            <a:r>
              <a:rPr lang="en-US" sz="16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Enhances Data Security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Protects sensitive information from unauthorized access and cyber threats.</a:t>
            </a:r>
          </a:p>
          <a:p>
            <a:r>
              <a:rPr lang="en-US" sz="16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Supports Better Decision Making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Reliable and high-quality data helps management take correct decisions.</a:t>
            </a:r>
          </a:p>
          <a:p>
            <a:r>
              <a:rPr lang="en-US" sz="16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Reduces Risk and Errors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Minimizes mistakes, duplication, and misuse of data.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Uses of Data Governance :</a:t>
            </a:r>
          </a:p>
          <a:p>
            <a:r>
              <a:rPr lang="en-US" sz="1600" b="1" u="sng" dirty="0"/>
              <a:t>Managing Customer Information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Maintains accurate and secure customer records.</a:t>
            </a:r>
          </a:p>
          <a:p>
            <a:r>
              <a:rPr lang="en-US" sz="1600" b="1" u="sng" dirty="0"/>
              <a:t>Financial Data Control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Ensures proper handling of financial transactions and reports.</a:t>
            </a:r>
          </a:p>
          <a:p>
            <a:r>
              <a:rPr lang="en-US" sz="1600" b="1" u="sng" dirty="0"/>
              <a:t>Data Protection in Healthcare &amp; Education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Safeguards patient and student records.</a:t>
            </a:r>
          </a:p>
          <a:p>
            <a:r>
              <a:rPr lang="en-US" sz="1600" b="1" u="sng" dirty="0"/>
              <a:t>Improving Business Reporting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accurate data for analysis and performance tracking.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5081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8D681-5B23-433D-544D-6A4EEB2D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03122"/>
            <a:ext cx="8596668" cy="65679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accent2"/>
                </a:solidFill>
              </a:rPr>
              <a:t>Policies and Procedures :</a:t>
            </a:r>
            <a:endParaRPr lang="en-IN" sz="28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Data Governance Policies</a:t>
            </a:r>
          </a:p>
          <a:p>
            <a:r>
              <a:rPr lang="en-US" b="1" dirty="0"/>
              <a:t>Policies</a:t>
            </a:r>
            <a:r>
              <a:rPr lang="en-US" dirty="0"/>
              <a:t> are official rules and guidelines that define how data should be handled in an organization.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Key Points: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dirty="0"/>
              <a:t>Define standards for data usage and management</a:t>
            </a:r>
          </a:p>
          <a:p>
            <a:r>
              <a:rPr lang="en-US" dirty="0"/>
              <a:t>Set rules for data access and sharing</a:t>
            </a:r>
          </a:p>
          <a:p>
            <a:r>
              <a:rPr lang="en-US" dirty="0"/>
              <a:t>Ensure data privacy and security</a:t>
            </a:r>
          </a:p>
          <a:p>
            <a:r>
              <a:rPr lang="en-US" dirty="0"/>
              <a:t>Maintain data quality standards</a:t>
            </a:r>
          </a:p>
          <a:p>
            <a:r>
              <a:rPr lang="en-US" dirty="0"/>
              <a:t>Ensure compliance with legal and regulatory requirements</a:t>
            </a:r>
          </a:p>
          <a:p>
            <a:r>
              <a:rPr lang="en-US" dirty="0"/>
              <a:t>👉 </a:t>
            </a:r>
            <a:r>
              <a:rPr lang="en-US" i="1" dirty="0"/>
              <a:t>In simple words:</a:t>
            </a:r>
            <a:r>
              <a:rPr lang="en-US" dirty="0"/>
              <a:t> Policies tell </a:t>
            </a:r>
            <a:r>
              <a:rPr lang="en-US" b="1" dirty="0"/>
              <a:t>what should be done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8585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8A46-8558-4A7D-9943-7ED5E806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0942"/>
            <a:ext cx="8596668" cy="551042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 Data Governance Procedures :</a:t>
            </a:r>
          </a:p>
          <a:p>
            <a:pPr marL="0" indent="0">
              <a:buNone/>
            </a:pPr>
            <a:endParaRPr lang="en-US" sz="2400" b="1" u="sng" dirty="0"/>
          </a:p>
          <a:p>
            <a:r>
              <a:rPr lang="en-US" sz="2000" b="1" dirty="0"/>
              <a:t>Procedures</a:t>
            </a:r>
            <a:r>
              <a:rPr lang="en-US" sz="2000" dirty="0"/>
              <a:t> are step-by-step instructions that explain how to follow the policies.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🔹 </a:t>
            </a:r>
            <a:r>
              <a:rPr lang="en-US" sz="2000" b="1" u="sng" dirty="0"/>
              <a:t>Key Points:</a:t>
            </a:r>
          </a:p>
          <a:p>
            <a:pPr marL="0" indent="0">
              <a:buNone/>
            </a:pPr>
            <a:endParaRPr lang="en-US" sz="2000" b="1" u="sng" dirty="0"/>
          </a:p>
          <a:p>
            <a:r>
              <a:rPr lang="en-US" sz="2000" dirty="0"/>
              <a:t>Steps for collecting and storing data</a:t>
            </a:r>
          </a:p>
          <a:p>
            <a:r>
              <a:rPr lang="en-US" sz="2000" dirty="0"/>
              <a:t>Process for granting data access</a:t>
            </a:r>
          </a:p>
          <a:p>
            <a:r>
              <a:rPr lang="en-US" sz="2000" dirty="0"/>
              <a:t>Method for data backup and recovery</a:t>
            </a:r>
          </a:p>
          <a:p>
            <a:r>
              <a:rPr lang="en-US" sz="2000" dirty="0"/>
              <a:t>Process for correcting data errors</a:t>
            </a:r>
          </a:p>
          <a:p>
            <a:r>
              <a:rPr lang="en-US" sz="2000" dirty="0"/>
              <a:t>Steps for reporting data breaches</a:t>
            </a:r>
          </a:p>
          <a:p>
            <a:r>
              <a:rPr lang="en-US" sz="2000" dirty="0"/>
              <a:t>👉 </a:t>
            </a:r>
            <a:r>
              <a:rPr lang="en-US" sz="2000" i="1" dirty="0"/>
              <a:t>In simple words:</a:t>
            </a:r>
            <a:r>
              <a:rPr lang="en-US" sz="2000" dirty="0"/>
              <a:t> Procedures explain </a:t>
            </a:r>
            <a:r>
              <a:rPr lang="en-US" sz="2000" b="1" dirty="0"/>
              <a:t>how to do it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003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A5E7C-D7B0-0E1D-17D3-14103542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9" y="616975"/>
            <a:ext cx="8596668" cy="60370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accent2"/>
                </a:solidFill>
              </a:rPr>
              <a:t>Roles and Responsibilities :</a:t>
            </a:r>
          </a:p>
          <a:p>
            <a:pPr marL="0" indent="0">
              <a:buNone/>
            </a:pPr>
            <a:endParaRPr lang="en-US" sz="28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/>
              <a:t>Roles in Data Governance :</a:t>
            </a:r>
          </a:p>
          <a:p>
            <a:pPr marL="0" indent="0">
              <a:buNone/>
            </a:pPr>
            <a:endParaRPr lang="en-US" sz="2400" b="1" u="sng" dirty="0"/>
          </a:p>
          <a:p>
            <a:r>
              <a:rPr lang="en-US" b="1" dirty="0"/>
              <a:t>Data Owner</a:t>
            </a:r>
            <a:br>
              <a:rPr lang="en-US" dirty="0"/>
            </a:br>
            <a:r>
              <a:rPr lang="en-US" dirty="0"/>
              <a:t>Senior person responsible for overall data management and quality.</a:t>
            </a:r>
          </a:p>
          <a:p>
            <a:r>
              <a:rPr lang="en-US" b="1" dirty="0"/>
              <a:t>Data Steward</a:t>
            </a:r>
            <a:br>
              <a:rPr lang="en-US" dirty="0"/>
            </a:br>
            <a:r>
              <a:rPr lang="en-US" dirty="0"/>
              <a:t>Ensures data is accurate, consistent, and follows policies.</a:t>
            </a:r>
          </a:p>
          <a:p>
            <a:r>
              <a:rPr lang="en-US" b="1" dirty="0"/>
              <a:t>Data Custodian</a:t>
            </a:r>
            <a:br>
              <a:rPr lang="en-US" dirty="0"/>
            </a:br>
            <a:r>
              <a:rPr lang="en-US" dirty="0"/>
              <a:t>Manages technical storage, security, and maintenance of data.</a:t>
            </a:r>
          </a:p>
          <a:p>
            <a:r>
              <a:rPr lang="en-US" b="1" dirty="0"/>
              <a:t>Data Users</a:t>
            </a:r>
            <a:br>
              <a:rPr lang="en-US" dirty="0"/>
            </a:br>
            <a:r>
              <a:rPr lang="en-US" dirty="0"/>
              <a:t>Employees who use data for daily work and decision-making.</a:t>
            </a:r>
          </a:p>
          <a:p>
            <a:r>
              <a:rPr lang="en-US" b="1" dirty="0"/>
              <a:t>IT Team</a:t>
            </a:r>
            <a:br>
              <a:rPr lang="en-US" dirty="0"/>
            </a:br>
            <a:r>
              <a:rPr lang="en-US" dirty="0"/>
              <a:t>Maintains systems, security, backups, and data infrastructure.</a:t>
            </a:r>
          </a:p>
          <a:p>
            <a:pPr marL="0" indent="0">
              <a:buNone/>
            </a:pPr>
            <a:endParaRPr lang="en-IN" sz="28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369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EC7F-1850-CBF2-86E6-65CBAFD93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31" y="698090"/>
            <a:ext cx="8596668" cy="5791200"/>
          </a:xfrm>
        </p:spPr>
        <p:txBody>
          <a:bodyPr/>
          <a:lstStyle/>
          <a:p>
            <a:r>
              <a:rPr lang="en-US" sz="2800" b="1" u="sng" dirty="0">
                <a:solidFill>
                  <a:schemeClr val="accent2"/>
                </a:solidFill>
              </a:rPr>
              <a:t>Responsibilities in Data Governance :</a:t>
            </a:r>
          </a:p>
          <a:p>
            <a:pPr marL="0" indent="0">
              <a:buNone/>
            </a:pPr>
            <a:endParaRPr lang="en-US" sz="2800" b="1" u="sng" dirty="0">
              <a:solidFill>
                <a:schemeClr val="accent2"/>
              </a:solidFill>
            </a:endParaRPr>
          </a:p>
          <a:p>
            <a:r>
              <a:rPr lang="en-US" sz="2000" b="1" dirty="0"/>
              <a:t>Maintain Data Quality</a:t>
            </a:r>
            <a:br>
              <a:rPr lang="en-US" sz="2000" dirty="0"/>
            </a:br>
            <a:r>
              <a:rPr lang="en-US" sz="2000" dirty="0"/>
              <a:t>Ensure data is accurate, complete, and regularly updated.</a:t>
            </a:r>
          </a:p>
          <a:p>
            <a:r>
              <a:rPr lang="en-US" sz="2000" b="1" dirty="0"/>
              <a:t>Ensure Data Security</a:t>
            </a:r>
            <a:br>
              <a:rPr lang="en-US" sz="2000" dirty="0"/>
            </a:br>
            <a:r>
              <a:rPr lang="en-US" sz="2000" dirty="0"/>
              <a:t>Protect important information from unauthorized access or misuse.</a:t>
            </a:r>
          </a:p>
          <a:p>
            <a:r>
              <a:rPr lang="en-US" sz="2000" b="1" dirty="0"/>
              <a:t>Maintain Data Privacy</a:t>
            </a:r>
            <a:br>
              <a:rPr lang="en-US" sz="2000" dirty="0"/>
            </a:br>
            <a:r>
              <a:rPr lang="en-US" sz="2000" dirty="0"/>
              <a:t>Handle personal and confidential data according to privacy rules.</a:t>
            </a:r>
          </a:p>
          <a:p>
            <a:r>
              <a:rPr lang="en-US" sz="2000" b="1" dirty="0"/>
              <a:t>Follow Data Policies</a:t>
            </a:r>
            <a:br>
              <a:rPr lang="en-US" sz="2000" dirty="0"/>
            </a:br>
            <a:r>
              <a:rPr lang="en-US" sz="2000" dirty="0"/>
              <a:t>Make sure all data activities follow defined policies and procedures.</a:t>
            </a:r>
          </a:p>
          <a:p>
            <a:r>
              <a:rPr lang="en-US" sz="2000" b="1" dirty="0"/>
              <a:t>Assign Clear Ownership</a:t>
            </a:r>
            <a:br>
              <a:rPr lang="en-US" sz="2000" dirty="0"/>
            </a:br>
            <a:r>
              <a:rPr lang="en-US" sz="2000" dirty="0"/>
              <a:t>Define who is responsible for managing specific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0738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F9EA5-28DB-8BEB-D6AD-76BE9B04B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82" y="422787"/>
            <a:ext cx="8596668" cy="6194322"/>
          </a:xfrm>
        </p:spPr>
        <p:txBody>
          <a:bodyPr>
            <a:normAutofit/>
          </a:bodyPr>
          <a:lstStyle/>
          <a:p>
            <a:pPr marL="457200" indent="-457200">
              <a:buAutoNum type="alphaUcPeriod" startAt="2"/>
            </a:pPr>
            <a:r>
              <a:rPr lang="en-US" sz="2400" b="1" u="sng" dirty="0">
                <a:solidFill>
                  <a:schemeClr val="accent2"/>
                </a:solidFill>
              </a:rPr>
              <a:t>Principles of Data Ethics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Data Ethics :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400" b="1" dirty="0"/>
              <a:t>📌 </a:t>
            </a:r>
            <a:r>
              <a:rPr lang="en-US" sz="2000" b="1" u="sng" dirty="0"/>
              <a:t>What is Data Ethics?</a:t>
            </a:r>
          </a:p>
          <a:p>
            <a:r>
              <a:rPr lang="en-US" dirty="0"/>
              <a:t>Principles that guide responsible use of data</a:t>
            </a:r>
          </a:p>
          <a:p>
            <a:r>
              <a:rPr lang="en-US" dirty="0"/>
              <a:t>Ensures data is used fairly and legally</a:t>
            </a:r>
          </a:p>
          <a:p>
            <a:r>
              <a:rPr lang="en-US" dirty="0"/>
              <a:t>Protects individual rights and privacy.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📌 </a:t>
            </a:r>
            <a:r>
              <a:rPr lang="en-US" sz="2000" b="1" u="sng" dirty="0"/>
              <a:t>Why Data Ethics is Important?</a:t>
            </a:r>
          </a:p>
          <a:p>
            <a:r>
              <a:rPr lang="en-US" dirty="0"/>
              <a:t>Builds trust with customers</a:t>
            </a:r>
          </a:p>
          <a:p>
            <a:r>
              <a:rPr lang="en-US" dirty="0"/>
              <a:t>Prevents misuse of information</a:t>
            </a:r>
          </a:p>
          <a:p>
            <a:r>
              <a:rPr lang="en-US" dirty="0"/>
              <a:t>Supports ethical decision-making</a:t>
            </a:r>
          </a:p>
          <a:p>
            <a:pPr marL="0" indent="0">
              <a:buNone/>
            </a:pP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17518273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9BC03-875D-377C-51A6-9D18A416D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56" y="298178"/>
            <a:ext cx="8596668" cy="626164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u="sng" dirty="0"/>
              <a:t>Core Principles of Data Ethics :</a:t>
            </a:r>
            <a:endParaRPr lang="en-US" b="1" u="sng" dirty="0"/>
          </a:p>
          <a:p>
            <a:pPr marL="0" indent="0">
              <a:buNone/>
            </a:pPr>
            <a:r>
              <a:rPr lang="en-US" b="1" dirty="0"/>
              <a:t>📌 Transparency</a:t>
            </a:r>
          </a:p>
          <a:p>
            <a:r>
              <a:rPr lang="en-US" dirty="0"/>
              <a:t>Clearly inform how data is collected and used</a:t>
            </a:r>
          </a:p>
          <a:p>
            <a:pPr marL="0" indent="0">
              <a:buNone/>
            </a:pPr>
            <a:r>
              <a:rPr lang="en-US" b="1" dirty="0"/>
              <a:t>📌 Consent</a:t>
            </a:r>
          </a:p>
          <a:p>
            <a:r>
              <a:rPr lang="en-US" dirty="0"/>
              <a:t>Collect data only with proper permission</a:t>
            </a:r>
          </a:p>
          <a:p>
            <a:pPr marL="0" indent="0">
              <a:buNone/>
            </a:pPr>
            <a:r>
              <a:rPr lang="en-US" b="1" dirty="0"/>
              <a:t>📌 Privacy</a:t>
            </a:r>
          </a:p>
          <a:p>
            <a:r>
              <a:rPr lang="en-US" dirty="0"/>
              <a:t>Protect personal and sensitive information</a:t>
            </a:r>
          </a:p>
          <a:p>
            <a:pPr marL="0" indent="0">
              <a:buNone/>
            </a:pPr>
            <a:r>
              <a:rPr lang="en-US" b="1" dirty="0"/>
              <a:t>📌 Security</a:t>
            </a:r>
          </a:p>
          <a:p>
            <a:r>
              <a:rPr lang="en-US" dirty="0"/>
              <a:t>Use strong measures to prevent data breaches</a:t>
            </a:r>
          </a:p>
          <a:p>
            <a:pPr marL="0" indent="0">
              <a:buNone/>
            </a:pPr>
            <a:r>
              <a:rPr lang="en-US" b="1" dirty="0"/>
              <a:t>📌 Fairness</a:t>
            </a:r>
          </a:p>
          <a:p>
            <a:r>
              <a:rPr lang="en-US" dirty="0"/>
              <a:t>Avoid bias and discrimination in data usage</a:t>
            </a:r>
          </a:p>
          <a:p>
            <a:pPr marL="0" indent="0">
              <a:buNone/>
            </a:pPr>
            <a:r>
              <a:rPr lang="en-US" b="1" dirty="0"/>
              <a:t>📌 Accountability</a:t>
            </a:r>
          </a:p>
          <a:p>
            <a:r>
              <a:rPr lang="en-US" dirty="0"/>
              <a:t>Take responsibility for data handling practices</a:t>
            </a:r>
          </a:p>
          <a:p>
            <a:pPr marL="0" indent="0">
              <a:buNone/>
            </a:pPr>
            <a:r>
              <a:rPr lang="en-US" b="1" dirty="0"/>
              <a:t>📌 Accuracy</a:t>
            </a:r>
          </a:p>
          <a:p>
            <a:r>
              <a:rPr lang="en-US" dirty="0"/>
              <a:t>Ensure data is correct and updated</a:t>
            </a:r>
          </a:p>
          <a:p>
            <a:pPr marL="0" indent="0">
              <a:buNone/>
            </a:pPr>
            <a:r>
              <a:rPr lang="en-US" b="1" dirty="0"/>
              <a:t>📌 Purpose Limitation</a:t>
            </a:r>
          </a:p>
          <a:p>
            <a:r>
              <a:rPr lang="en-US" dirty="0"/>
              <a:t>Use data only for the intended purpose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959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31F6-FA45-2301-1ED1-AA7E8222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9" y="508519"/>
            <a:ext cx="8596668" cy="5840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2"/>
                </a:solidFill>
              </a:rPr>
              <a:t>Privacy and Confidentiality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Privacy and Confidentiality :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dirty="0"/>
              <a:t>📌 Privacy</a:t>
            </a:r>
          </a:p>
          <a:p>
            <a:r>
              <a:rPr lang="en-US" sz="2000" dirty="0"/>
              <a:t>Right of individuals to control their personal information</a:t>
            </a:r>
          </a:p>
          <a:p>
            <a:r>
              <a:rPr lang="en-US" sz="2000" dirty="0"/>
              <a:t>Protects personal data from unwanted exposure</a:t>
            </a:r>
          </a:p>
          <a:p>
            <a:pPr marL="0" indent="0">
              <a:buNone/>
            </a:pPr>
            <a:r>
              <a:rPr lang="en-US" sz="2000" b="1" dirty="0"/>
              <a:t>📌 Confidentiality</a:t>
            </a:r>
          </a:p>
          <a:p>
            <a:r>
              <a:rPr lang="en-US" sz="2000" dirty="0"/>
              <a:t>Obligation to keep sensitive information secret</a:t>
            </a:r>
          </a:p>
          <a:p>
            <a:r>
              <a:rPr lang="en-US" sz="2000" dirty="0"/>
              <a:t>Shared only with authorized persons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🎤  Privacy is a right, confidentiality is a responsibility.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571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1C6A-F785-8002-9142-7436E0247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1845"/>
            <a:ext cx="8596668" cy="581297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Importance of Privacy and Confidentiality :</a:t>
            </a:r>
          </a:p>
          <a:p>
            <a:r>
              <a:rPr lang="en-US" dirty="0"/>
              <a:t>Protects personal and sensitive information</a:t>
            </a:r>
          </a:p>
          <a:p>
            <a:r>
              <a:rPr lang="en-US" dirty="0"/>
              <a:t>Builds trust between organizations and customers</a:t>
            </a:r>
          </a:p>
          <a:p>
            <a:r>
              <a:rPr lang="en-US" dirty="0"/>
              <a:t>Prevents identity theft and fraud</a:t>
            </a:r>
          </a:p>
          <a:p>
            <a:r>
              <a:rPr lang="en-US" dirty="0"/>
              <a:t>Ensures legal and regulatory compliance</a:t>
            </a:r>
          </a:p>
          <a:p>
            <a:r>
              <a:rPr lang="en-US" dirty="0"/>
              <a:t>Maintains organization’s reputation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How to Maintain Privacy and Confidentiality :</a:t>
            </a:r>
          </a:p>
          <a:p>
            <a:r>
              <a:rPr lang="en-US" dirty="0"/>
              <a:t>Use strong passwords and encryption</a:t>
            </a:r>
          </a:p>
          <a:p>
            <a:r>
              <a:rPr lang="en-US" dirty="0"/>
              <a:t>Limit data access to authorized users</a:t>
            </a:r>
          </a:p>
          <a:p>
            <a:r>
              <a:rPr lang="en-US" dirty="0"/>
              <a:t>Follow data protection policies</a:t>
            </a:r>
          </a:p>
          <a:p>
            <a:r>
              <a:rPr lang="en-US" dirty="0"/>
              <a:t>Regularly update security systems</a:t>
            </a:r>
          </a:p>
          <a:p>
            <a:r>
              <a:rPr lang="en-US" dirty="0"/>
              <a:t>Train employees on data handling practices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4065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2048-F5DB-C191-4601-FA3D7CFB4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87829"/>
            <a:ext cx="8596668" cy="56636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2"/>
                </a:solidFill>
              </a:rPr>
              <a:t>Transparency and Accountability :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to Transparency and Accountability</a:t>
            </a:r>
          </a:p>
          <a:p>
            <a:pPr marL="0" indent="0">
              <a:buNone/>
            </a:pPr>
            <a:r>
              <a:rPr lang="en-US" sz="2400" b="1" dirty="0"/>
              <a:t>📌 </a:t>
            </a:r>
            <a:r>
              <a:rPr lang="en-US" sz="2000" b="1" u="sng" dirty="0"/>
              <a:t>Transparency</a:t>
            </a:r>
          </a:p>
          <a:p>
            <a:r>
              <a:rPr lang="en-US" sz="2000" dirty="0"/>
              <a:t>Being open about how data is collected and used.</a:t>
            </a:r>
          </a:p>
          <a:p>
            <a:r>
              <a:rPr lang="en-US" sz="2000" dirty="0"/>
              <a:t>Clearly informing users about data policies.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📌 </a:t>
            </a:r>
            <a:r>
              <a:rPr lang="en-US" sz="2000" b="1" u="sng" dirty="0"/>
              <a:t>Accountability</a:t>
            </a:r>
          </a:p>
          <a:p>
            <a:r>
              <a:rPr lang="en-US" sz="2000" dirty="0"/>
              <a:t>Taking responsibility for data handling practices.</a:t>
            </a:r>
          </a:p>
          <a:p>
            <a:r>
              <a:rPr lang="en-US" sz="2000" dirty="0"/>
              <a:t>Being answerable for data misuse or errors.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🎤  Transparency builds trust, accountability builds responsibility.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8988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D9364-5684-5A67-58BB-630071F8D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293" y="559837"/>
            <a:ext cx="8596668" cy="57383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Importance of Transparency :</a:t>
            </a:r>
          </a:p>
          <a:p>
            <a:r>
              <a:rPr lang="en-US" dirty="0"/>
              <a:t>Builds trust with customers and stakeholders</a:t>
            </a:r>
          </a:p>
          <a:p>
            <a:r>
              <a:rPr lang="en-US" dirty="0"/>
              <a:t>Improves organizational reputation</a:t>
            </a:r>
          </a:p>
          <a:p>
            <a:r>
              <a:rPr lang="en-US" dirty="0"/>
              <a:t>Reduces misunderstandings about data use</a:t>
            </a:r>
          </a:p>
          <a:p>
            <a:r>
              <a:rPr lang="en-US" dirty="0"/>
              <a:t>Encourages ethical decision-making</a:t>
            </a:r>
          </a:p>
          <a:p>
            <a:r>
              <a:rPr lang="en-US" dirty="0"/>
              <a:t>Supports legal compliance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u="sng" dirty="0"/>
              <a:t> Importance of Accountability :</a:t>
            </a:r>
          </a:p>
          <a:p>
            <a:r>
              <a:rPr lang="en-US" dirty="0"/>
              <a:t>Ensures proper data management</a:t>
            </a:r>
          </a:p>
          <a:p>
            <a:r>
              <a:rPr lang="en-US" dirty="0"/>
              <a:t>Defines clear roles and responsibilities</a:t>
            </a:r>
          </a:p>
          <a:p>
            <a:r>
              <a:rPr lang="en-US" dirty="0"/>
              <a:t>Encourages responsible data usage</a:t>
            </a:r>
          </a:p>
          <a:p>
            <a:r>
              <a:rPr lang="en-US" dirty="0"/>
              <a:t>Helps identify and correct mistakes</a:t>
            </a:r>
          </a:p>
          <a:p>
            <a:r>
              <a:rPr lang="en-US" dirty="0"/>
              <a:t>Prevents data misuse and negligence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3345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6E705-8F46-46DF-10DA-D33E6A688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59836"/>
            <a:ext cx="8596668" cy="5775649"/>
          </a:xfrm>
        </p:spPr>
        <p:txBody>
          <a:bodyPr>
            <a:normAutofit/>
          </a:bodyPr>
          <a:lstStyle/>
          <a:p>
            <a:pPr marL="457200" indent="-457200">
              <a:buAutoNum type="alphaLcPeriod" startAt="3"/>
            </a:pPr>
            <a:r>
              <a:rPr lang="en-US" sz="2400" b="1" u="sng" dirty="0">
                <a:solidFill>
                  <a:schemeClr val="accent2"/>
                </a:solidFill>
              </a:rPr>
              <a:t>Regulatory Compliance ( e.g. GDPR , CCPA )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What is Regulatory Compliance?</a:t>
            </a:r>
            <a:endParaRPr lang="en-US" sz="2400" b="1" u="sng" dirty="0"/>
          </a:p>
          <a:p>
            <a:pPr marL="0" indent="0">
              <a:buNone/>
            </a:pPr>
            <a:r>
              <a:rPr lang="en-US" sz="2400" b="1" dirty="0"/>
              <a:t>📌 </a:t>
            </a:r>
            <a:r>
              <a:rPr lang="en-US" sz="2000" b="1" u="sng" dirty="0"/>
              <a:t>Definition :</a:t>
            </a:r>
          </a:p>
          <a:p>
            <a:r>
              <a:rPr lang="en-US" sz="2000" dirty="0"/>
              <a:t>Following laws and regulations related to data protection</a:t>
            </a:r>
          </a:p>
          <a:p>
            <a:r>
              <a:rPr lang="en-US" sz="2000" dirty="0"/>
              <a:t>Ensures organizations handle data legally and ethically.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📌 </a:t>
            </a:r>
            <a:r>
              <a:rPr lang="en-US" sz="2000" b="1" u="sng" dirty="0"/>
              <a:t>Why It Is Important ?</a:t>
            </a:r>
          </a:p>
          <a:p>
            <a:r>
              <a:rPr lang="en-US" sz="2000" dirty="0"/>
              <a:t>Protects customer data</a:t>
            </a:r>
          </a:p>
          <a:p>
            <a:r>
              <a:rPr lang="en-US" sz="2000" dirty="0"/>
              <a:t>Avoids legal penalties and fines</a:t>
            </a:r>
          </a:p>
          <a:p>
            <a:r>
              <a:rPr lang="en-US" sz="2000" dirty="0"/>
              <a:t>Builds trust with users.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🎤  Regulatory compliance ensures that organizations follow data protection laws properly.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195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0304-31DA-C6B3-B699-905EB047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69167"/>
            <a:ext cx="8596668" cy="578498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accent2"/>
                </a:solidFill>
              </a:rPr>
              <a:t>GDPR :</a:t>
            </a:r>
          </a:p>
          <a:p>
            <a:pPr marL="0" indent="0">
              <a:buNone/>
            </a:pPr>
            <a:r>
              <a:rPr lang="en-US" b="1" dirty="0"/>
              <a:t>📌 </a:t>
            </a:r>
            <a:r>
              <a:rPr lang="en-US" b="1" u="sng" dirty="0">
                <a:solidFill>
                  <a:schemeClr val="accent2"/>
                </a:solidFill>
              </a:rPr>
              <a:t>General Data Protection Regulation (GDPR) :</a:t>
            </a:r>
          </a:p>
          <a:p>
            <a:r>
              <a:rPr lang="en-US" dirty="0"/>
              <a:t>Data protection law in the European Union</a:t>
            </a:r>
          </a:p>
          <a:p>
            <a:r>
              <a:rPr lang="en-US" dirty="0"/>
              <a:t>Protects personal data and privacy of EU citizens</a:t>
            </a:r>
          </a:p>
          <a:p>
            <a:r>
              <a:rPr lang="en-US" dirty="0"/>
              <a:t>Requires clear consent before collecting data</a:t>
            </a:r>
          </a:p>
          <a:p>
            <a:r>
              <a:rPr lang="en-US" dirty="0"/>
              <a:t>Gives individuals rights over their data (access, correction, deletion)</a:t>
            </a:r>
          </a:p>
          <a:p>
            <a:r>
              <a:rPr lang="en-US" dirty="0"/>
              <a:t>Imposes heavy fines for violations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accent2"/>
                </a:solidFill>
              </a:rPr>
              <a:t>CCPA :</a:t>
            </a:r>
          </a:p>
          <a:p>
            <a:pPr marL="0" indent="0">
              <a:buNone/>
            </a:pPr>
            <a:r>
              <a:rPr lang="en-US" b="1" dirty="0"/>
              <a:t>📌 </a:t>
            </a:r>
            <a:r>
              <a:rPr lang="en-US" b="1" u="sng" dirty="0">
                <a:solidFill>
                  <a:schemeClr val="accent2"/>
                </a:solidFill>
              </a:rPr>
              <a:t>California Consumer Privacy Act (CCPA) :</a:t>
            </a:r>
          </a:p>
          <a:p>
            <a:r>
              <a:rPr lang="en-US" dirty="0"/>
              <a:t>Data privacy law in California, USA</a:t>
            </a:r>
          </a:p>
          <a:p>
            <a:r>
              <a:rPr lang="en-US" dirty="0"/>
              <a:t>Gives consumers the right to know what data is collected</a:t>
            </a:r>
          </a:p>
          <a:p>
            <a:r>
              <a:rPr lang="en-US" dirty="0"/>
              <a:t>Allows users to request deletion of personal data</a:t>
            </a:r>
          </a:p>
          <a:p>
            <a:r>
              <a:rPr lang="en-US" dirty="0"/>
              <a:t>Gives option to opt-out of data selling</a:t>
            </a:r>
          </a:p>
          <a:p>
            <a:r>
              <a:rPr lang="en-US" dirty="0"/>
              <a:t>Applies to businesses handling California residents’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1344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A38184-F905-A5DF-4E71-E6E387CA3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305465"/>
              </p:ext>
            </p:extLst>
          </p:nvPr>
        </p:nvGraphicFramePr>
        <p:xfrm>
          <a:off x="681135" y="1373148"/>
          <a:ext cx="8864082" cy="5055422"/>
        </p:xfrm>
        <a:graphic>
          <a:graphicData uri="http://schemas.openxmlformats.org/drawingml/2006/table">
            <a:tbl>
              <a:tblPr/>
              <a:tblGrid>
                <a:gridCol w="2184857">
                  <a:extLst>
                    <a:ext uri="{9D8B030D-6E8A-4147-A177-3AD203B41FA5}">
                      <a16:colId xmlns:a16="http://schemas.microsoft.com/office/drawing/2014/main" val="334980528"/>
                    </a:ext>
                  </a:extLst>
                </a:gridCol>
                <a:gridCol w="3532346">
                  <a:extLst>
                    <a:ext uri="{9D8B030D-6E8A-4147-A177-3AD203B41FA5}">
                      <a16:colId xmlns:a16="http://schemas.microsoft.com/office/drawing/2014/main" val="3043018199"/>
                    </a:ext>
                  </a:extLst>
                </a:gridCol>
                <a:gridCol w="3146879">
                  <a:extLst>
                    <a:ext uri="{9D8B030D-6E8A-4147-A177-3AD203B41FA5}">
                      <a16:colId xmlns:a16="http://schemas.microsoft.com/office/drawing/2014/main" val="3820465232"/>
                    </a:ext>
                  </a:extLst>
                </a:gridCol>
              </a:tblGrid>
              <a:tr h="72220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Basis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General Data Protection Regulation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California Consumer Privacy 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864515"/>
                  </a:ext>
                </a:extLst>
              </a:tr>
              <a:tr h="41268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European Union (EU)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California, USA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58747"/>
                  </a:ext>
                </a:extLst>
              </a:tr>
              <a:tr h="72220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Protects personal data of EU citizens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Protects privacy rights of California residents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52661"/>
                  </a:ext>
                </a:extLst>
              </a:tr>
              <a:tr h="72220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Consent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Requires clear consent before data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Allows consumers to opt-out of data selling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305142"/>
                  </a:ext>
                </a:extLst>
              </a:tr>
              <a:tr h="72220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User Rights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Access, correction, deletion, data portability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Access, deletion, opt-out of data sale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634937"/>
                  </a:ext>
                </a:extLst>
              </a:tr>
              <a:tr h="72220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Penalties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Heavy fines for non-compliance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Financial penalties for violations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75905"/>
                  </a:ext>
                </a:extLst>
              </a:tr>
              <a:tr h="103171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Applies to global companies handling EU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Applies to businesses serving California residents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8867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7DE3CED-210B-4ADC-21A5-56DF9A99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90" y="634484"/>
            <a:ext cx="504599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GDPR vs CCPA (Comparison)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134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3031-BD09-F891-E5E4-CFC5D0AD8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513184"/>
            <a:ext cx="8596668" cy="583163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lphaUcPeriod" startAt="4"/>
            </a:pPr>
            <a:r>
              <a:rPr lang="en-US" sz="2600" b="1" u="sng" dirty="0">
                <a:solidFill>
                  <a:schemeClr val="accent2"/>
                </a:solidFill>
              </a:rPr>
              <a:t>Building a Culture of Responsible Data Use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Introduction :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dirty="0"/>
              <a:t>📌 </a:t>
            </a:r>
            <a:r>
              <a:rPr lang="en-US" sz="2000" b="1" u="sng" dirty="0"/>
              <a:t>What is Responsible Data Use?</a:t>
            </a:r>
          </a:p>
          <a:p>
            <a:r>
              <a:rPr lang="en-US" sz="2000" dirty="0"/>
              <a:t>Using data ethically, legally, and securely</a:t>
            </a:r>
          </a:p>
          <a:p>
            <a:r>
              <a:rPr lang="en-US" sz="2000" dirty="0"/>
              <a:t>Respecting privacy and individual rights</a:t>
            </a:r>
          </a:p>
          <a:p>
            <a:r>
              <a:rPr lang="en-US" sz="2000" dirty="0"/>
              <a:t>Ensuring data is accurate and protected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📌 </a:t>
            </a:r>
            <a:r>
              <a:rPr lang="en-US" sz="2000" b="1" u="sng" dirty="0"/>
              <a:t>Why It Is Important?</a:t>
            </a:r>
          </a:p>
          <a:p>
            <a:r>
              <a:rPr lang="en-US" sz="2000" dirty="0"/>
              <a:t>Builds trust with customers</a:t>
            </a:r>
          </a:p>
          <a:p>
            <a:r>
              <a:rPr lang="en-US" sz="2000" dirty="0"/>
              <a:t>Reduces data misuse and risks</a:t>
            </a:r>
          </a:p>
          <a:p>
            <a:r>
              <a:rPr lang="en-US" sz="2000" dirty="0"/>
              <a:t>Supports ethical decision-making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🎤  Responsible data use means handling data carefully and ethically at every level of the organization.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0186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3FF1B-F1D5-67E8-0E79-255CCD9F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9" y="527179"/>
            <a:ext cx="8596668" cy="58036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Key Elements to Build the Culture :</a:t>
            </a:r>
          </a:p>
          <a:p>
            <a:r>
              <a:rPr lang="en-US" dirty="0"/>
              <a:t>Create clear data policies and guidelines</a:t>
            </a:r>
          </a:p>
          <a:p>
            <a:r>
              <a:rPr lang="en-US" dirty="0"/>
              <a:t>Provide regular employee training</a:t>
            </a:r>
          </a:p>
          <a:p>
            <a:r>
              <a:rPr lang="en-US" dirty="0"/>
              <a:t>Promote transparency in data practices</a:t>
            </a:r>
          </a:p>
          <a:p>
            <a:r>
              <a:rPr lang="en-US" dirty="0"/>
              <a:t>Encourage accountability at all levels</a:t>
            </a:r>
          </a:p>
          <a:p>
            <a:r>
              <a:rPr lang="en-US" dirty="0"/>
              <a:t>Implement strong data security measures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u="sng" dirty="0"/>
              <a:t> Benefits of Responsible Data Culture :</a:t>
            </a:r>
          </a:p>
          <a:p>
            <a:r>
              <a:rPr lang="en-US" dirty="0"/>
              <a:t>Improves data quality and reliability</a:t>
            </a:r>
          </a:p>
          <a:p>
            <a:r>
              <a:rPr lang="en-US" dirty="0"/>
              <a:t>Prevents legal and compliance issues</a:t>
            </a:r>
          </a:p>
          <a:p>
            <a:r>
              <a:rPr lang="en-US" dirty="0"/>
              <a:t>Protects organization’s reputation</a:t>
            </a:r>
          </a:p>
          <a:p>
            <a:r>
              <a:rPr lang="en-US" dirty="0"/>
              <a:t>Enhances customer confidence</a:t>
            </a:r>
          </a:p>
          <a:p>
            <a:r>
              <a:rPr lang="en-US" dirty="0"/>
              <a:t>Supports long-term business growth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452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28FA-9A5D-77B3-32CF-206F2A99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802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u="sng" dirty="0"/>
              <a:t>Conclusion 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D922-AEC7-14B2-5D4E-D5AC7BB3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63" y="1280057"/>
            <a:ext cx="8596668" cy="496834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000" dirty="0"/>
              <a:t>Information Technology plays a vital role in modern business systems.</a:t>
            </a:r>
          </a:p>
          <a:p>
            <a:r>
              <a:rPr lang="en-US" sz="2000" dirty="0"/>
              <a:t>Understanding data types, sources, and life cycle helps manage information effectively.</a:t>
            </a:r>
          </a:p>
          <a:p>
            <a:r>
              <a:rPr lang="en-US" sz="2000" dirty="0"/>
              <a:t>Business Analysts bridge the gap between business needs and IT solutions.</a:t>
            </a:r>
          </a:p>
          <a:p>
            <a:r>
              <a:rPr lang="en-US" sz="2000" dirty="0"/>
              <a:t>Converting data into meaningful information supports better understanding.</a:t>
            </a:r>
          </a:p>
          <a:p>
            <a:r>
              <a:rPr lang="en-US" sz="2000" dirty="0"/>
              <a:t>Data-driven decision making improves accuracy and reduces risks.</a:t>
            </a:r>
          </a:p>
          <a:p>
            <a:r>
              <a:rPr lang="en-US" sz="2000" dirty="0"/>
              <a:t>Real-life applications show how data improves business performance.</a:t>
            </a:r>
          </a:p>
          <a:p>
            <a:r>
              <a:rPr lang="en-US" sz="2000" dirty="0"/>
              <a:t>Data Governance and Data Ethics ensure data is used responsibly, securely, and legally.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305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EE6-F2D0-A82B-3E47-4EDC6EE1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355720"/>
            <a:ext cx="8596668" cy="2146559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673500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812</TotalTime>
  <Words>4790</Words>
  <Application>Microsoft Office PowerPoint</Application>
  <PresentationFormat>Widescreen</PresentationFormat>
  <Paragraphs>850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Trebuchet MS</vt:lpstr>
      <vt:lpstr>Wingdings</vt:lpstr>
      <vt:lpstr>Wingdings 3</vt:lpstr>
      <vt:lpstr>Facet</vt:lpstr>
      <vt:lpstr>INFORMATION TECHNOLOGY</vt:lpstr>
      <vt:lpstr>Table of Contents :</vt:lpstr>
      <vt:lpstr>Introduction to IT and Business Systems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Types, Sources and Life Cycle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Business Analyst Role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vs Information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of Data-Driven Decision Making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Discussions / Real–Life Examples :</vt:lpstr>
      <vt:lpstr>PowerPoint Presentation</vt:lpstr>
      <vt:lpstr>PowerPoint Presentation</vt:lpstr>
      <vt:lpstr>Introduction to Data Governance &amp; Data Ethics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CHANDRIMA</dc:creator>
  <cp:lastModifiedBy>CHANDRIMA</cp:lastModifiedBy>
  <cp:revision>4</cp:revision>
  <dcterms:created xsi:type="dcterms:W3CDTF">2026-02-23T17:50:36Z</dcterms:created>
  <dcterms:modified xsi:type="dcterms:W3CDTF">2026-02-27T06:19:14Z</dcterms:modified>
</cp:coreProperties>
</file>